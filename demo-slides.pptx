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288ba82b84aa6" /><Relationship Type="http://schemas.openxmlformats.org/officeDocument/2006/relationships/extended-properties" Target="/docProps/app.xml" Id="R500edcb6c1af4d9b" /><Relationship Type="http://schemas.openxmlformats.org/officeDocument/2006/relationships/officeDocument" Target="/ppt/presentation.xml" Id="Rf83d3290a39e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4faa4f5438466f"/>
  </p:sldMasterIdLst>
  <p:notesMasterIdLst>
    <p:notesMasterId xmlns:r="http://schemas.openxmlformats.org/officeDocument/2006/relationships" r:id="Rb54af943aa1d4f51"/>
  </p:notesMasterIdLst>
  <p:sldIdLst>
    <p:sldId xmlns:r="http://schemas.openxmlformats.org/officeDocument/2006/relationships" id="256" r:id="Re19d0370d82944e4"/>
    <p:sldId xmlns:r="http://schemas.openxmlformats.org/officeDocument/2006/relationships" id="257" r:id="Ra34891a171834523"/>
    <p:sldId xmlns:r="http://schemas.openxmlformats.org/officeDocument/2006/relationships" id="258" r:id="R8ed50d9233be472c"/>
    <p:sldId xmlns:r="http://schemas.openxmlformats.org/officeDocument/2006/relationships" id="259" r:id="Re04824d7c831493b"/>
    <p:sldId xmlns:r="http://schemas.openxmlformats.org/officeDocument/2006/relationships" id="260" r:id="Rc38edf49f868410b"/>
    <p:sldId xmlns:r="http://schemas.openxmlformats.org/officeDocument/2006/relationships" id="261" r:id="R69933d08d48e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b9c66447b346ca" /><Relationship Type="http://schemas.openxmlformats.org/officeDocument/2006/relationships/slideMaster" Target="/ppt/slideMasters/slideMaster1.xml" Id="Rb94faa4f5438466f" /><Relationship Type="http://schemas.openxmlformats.org/officeDocument/2006/relationships/notesMaster" Target="/ppt/notesMasters/notesMaster1.xml" Id="Rb54af943aa1d4f51" /><Relationship Type="http://schemas.openxmlformats.org/officeDocument/2006/relationships/presProps" Target="/ppt/presProps.xml" Id="Rcf8ddd866412435e" /><Relationship Type="http://schemas.openxmlformats.org/officeDocument/2006/relationships/viewProps" Target="/ppt/viewProps.xml" Id="R84c0e2dcfe374006" /><Relationship Type="http://schemas.openxmlformats.org/officeDocument/2006/relationships/tableStyles" Target="/ppt/tableStyles.xml" Id="Rd36b509f70da46db" /><Relationship Type="http://schemas.openxmlformats.org/officeDocument/2006/relationships/slide" Target="/ppt/slides/slide1.xml" Id="Re19d0370d82944e4" /><Relationship Type="http://schemas.openxmlformats.org/officeDocument/2006/relationships/slide" Target="/ppt/slides/slide2.xml" Id="Ra34891a171834523" /><Relationship Type="http://schemas.openxmlformats.org/officeDocument/2006/relationships/slide" Target="/ppt/slides/slide3.xml" Id="R8ed50d9233be472c" /><Relationship Type="http://schemas.openxmlformats.org/officeDocument/2006/relationships/slide" Target="/ppt/slides/slide4.xml" Id="Re04824d7c831493b" /><Relationship Type="http://schemas.openxmlformats.org/officeDocument/2006/relationships/slide" Target="/ppt/slides/slide5.xml" Id="Rc38edf49f868410b" /><Relationship Type="http://schemas.openxmlformats.org/officeDocument/2006/relationships/slide" Target="/ppt/slides/slide6.xml" Id="R69933d08d48e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cebecf9be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57acab7c7a42fa" /><Relationship Type="http://schemas.openxmlformats.org/officeDocument/2006/relationships/notesMaster" Target="/ppt/notesMasters/notesMaster1.xml" Id="R274fb54d7269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10c2432fb644aa" /><Relationship Type="http://schemas.openxmlformats.org/officeDocument/2006/relationships/notesMaster" Target="/ppt/notesMasters/notesMaster1.xml" Id="R8b34b792fda445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d6dcb93f145a8" /><Relationship Type="http://schemas.openxmlformats.org/officeDocument/2006/relationships/notesMaster" Target="/ppt/notesMasters/notesMaster1.xml" Id="R79b86a6c8a8446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b95791c2ca426a" /><Relationship Type="http://schemas.openxmlformats.org/officeDocument/2006/relationships/notesMaster" Target="/ppt/notesMasters/notesMaster1.xml" Id="R021b82b1504a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ebba62e4b4b42" /><Relationship Type="http://schemas.openxmlformats.org/officeDocument/2006/relationships/notesMaster" Target="/ppt/notesMasters/notesMaster1.xml" Id="R54cf500318ee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46c70b00de44a2" /><Relationship Type="http://schemas.openxmlformats.org/officeDocument/2006/relationships/notesMaster" Target="/ppt/notesMasters/notesMaster1.xml" Id="R8112672faee6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7d86ce336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01a5532ae40a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2e29486f949cd" /><Relationship Type="http://schemas.openxmlformats.org/officeDocument/2006/relationships/slideLayout" Target="/ppt/slideLayouts/slideLayout1.xml" Id="Rcfc095a1baae42e7" /><Relationship Type="http://schemas.openxmlformats.org/officeDocument/2006/relationships/slideLayout" Target="/ppt/slideLayouts/slideLayout2.xml" Id="R996d60000ce1413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095a1baae42e7"/>
    <p:sldLayoutId xmlns:r="http://schemas.openxmlformats.org/officeDocument/2006/relationships" id="2147483650" r:id="R996d60000ce1413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9c384c0ff491b" /><Relationship Type="http://schemas.openxmlformats.org/officeDocument/2006/relationships/image" Target="/ppt/media/image.png" Id="R43b7aaaa93b74a43" /><Relationship Type="http://schemas.openxmlformats.org/officeDocument/2006/relationships/notesSlide" Target="/ppt/notesSlides/notesSlide1.xml" Id="R86395743583842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21d7629ed49c9" /><Relationship Type="http://schemas.openxmlformats.org/officeDocument/2006/relationships/image" Target="/ppt/media/image2.png" Id="Rfdf5c4327b6b4e4e" /><Relationship Type="http://schemas.openxmlformats.org/officeDocument/2006/relationships/notesSlide" Target="/ppt/notesSlides/notesSlide2.xml" Id="Rfceee3c118eb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ad3b2a5a64ff3" /><Relationship Type="http://schemas.openxmlformats.org/officeDocument/2006/relationships/image" Target="/ppt/media/image3.png" Id="Rd3c7eea9e4da4893" /><Relationship Type="http://schemas.openxmlformats.org/officeDocument/2006/relationships/notesSlide" Target="/ppt/notesSlides/notesSlide3.xml" Id="R1bae817b5c6f45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e9d4e56d84820" /><Relationship Type="http://schemas.openxmlformats.org/officeDocument/2006/relationships/image" Target="/ppt/media/image4.png" Id="R837e93c9ce5e4355" /><Relationship Type="http://schemas.openxmlformats.org/officeDocument/2006/relationships/notesSlide" Target="/ppt/notesSlides/notesSlide4.xml" Id="R1d2cac20289c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8e083affc74c3a" /><Relationship Type="http://schemas.openxmlformats.org/officeDocument/2006/relationships/image" Target="/ppt/media/image5.png" Id="R2996be44062d4c9d" /><Relationship Type="http://schemas.openxmlformats.org/officeDocument/2006/relationships/notesSlide" Target="/ppt/notesSlides/notesSlide5.xml" Id="R4b3450dad42c4b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440c0b1554d0f" /><Relationship Type="http://schemas.openxmlformats.org/officeDocument/2006/relationships/image" Target="/ppt/media/image6.png" Id="Rae94a6c26a914f75" /><Relationship Type="http://schemas.openxmlformats.org/officeDocument/2006/relationships/notesSlide" Target="/ppt/notesSlides/notesSlide6.xml" Id="Rc8ae9a6c695b4b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7aaaa93b74a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FDE375F-7B79-4730-8545-5C0A3068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E65024E-FA22-42DE-8A72-7C8493B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168FAAA-25B8-4058-ADD4-E3E55D1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69967E2-495E-4890-AC3D-77D9594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F4C6E42-3053-482F-91F1-731A0F0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Vấn đề: lớp học im lặng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F261E64-57B7-4B6D-94EE-CD7D829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Trong lớp đông, “không có câu hỏi” không có nghĩa là “cả lớp đã hiểu”.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E212683-3B7A-46A7-AB2A-1A789BD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20240"/>
            <a:ext cx="6583680" cy="1060704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5E9FF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E8C3F3-7156-4D7D-9742-A59AD71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66544"/>
            <a:ext cx="614476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2F55"/>
                </a:solidFill>
              </a:rPr>
              <a:t>Pain chính: sinh viên bị kẹt nhưng không có cách nhanh, kín đáo và đúng ngữ cảnh để báo cho giảng viên trước khi bài học chuyển tiếp.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F47D36D-2A89-4790-854A-7FC1F5D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7560"/>
            <a:ext cx="201168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D058C1-647D-4F56-887E-F616378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756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D8B"/>
          </a:solidFill>
          <a:ln xmlns:a="http://schemas.openxmlformats.org/drawingml/2006/main" w="12700">
            <a:solidFill>
              <a:srgbClr val="134D8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9FAD3F-BFD9-4283-894D-F5EF9808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34D8B"/>
                </a:solidFill>
              </a:rPr>
              <a:t>31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B60CC6A-8003-4C09-9C5E-CC9E937E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4216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người trả lời khảo sát CP4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89E67CF-642E-45BC-8D51-8EEDE6B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37560"/>
            <a:ext cx="210312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958D832-96DD-47AC-9FB8-C4FBC281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3756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D2733AF-AC9F-4784-A8E0-C74AD59A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3520440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2127"/>
                </a:solidFill>
              </a:rPr>
              <a:t>19/31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A5CDEB4-EC92-428A-AECF-FAD647C2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4014216"/>
            <a:ext cx="1737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xác nhận giảng viên khó biết ai đang kẹt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BAB2000-0AA6-4A18-9630-F21BE3A6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337560"/>
            <a:ext cx="237744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52F18BC-1936-4F13-9E79-320D0D03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33756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B57F56D-D896-46BC-9BCB-5974CDCC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352044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</a:rPr>
              <a:t>54,8%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2E07D49-8AB0-4A98-9760-472181B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4014216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từng chưa hiểu nhưng bài vẫn tiếp tục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102E312-BB4C-42D9-8562-1406BDF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37560"/>
            <a:ext cx="224028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579CC6E-04DD-4695-BA0C-6BC0F8AC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3756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EA6"/>
          </a:solidFill>
          <a:ln xmlns:a="http://schemas.openxmlformats.org/drawingml/2006/main" w="12700">
            <a:solidFill>
              <a:srgbClr val="1A5EA6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3FAA1D0-91CC-4E4F-9404-7AF9B5F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52044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A5EA6"/>
                </a:solidFill>
              </a:rPr>
              <a:t>87,1%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EA5178-4099-4814-80BC-FB89E47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014216"/>
            <a:ext cx="1874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đã dùng AI hỗ trợ học tập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07C9B54-CE34-434B-90A9-B4BE34E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800600"/>
            <a:ext cx="237744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239C883-7B6E-4940-8DEF-83D9328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80060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F1B3EEA-5A6E-4C69-87BB-4498107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498348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2127"/>
                </a:solidFill>
              </a:rPr>
              <a:t>25,8%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0793453-B660-43D7-9FF9-C8001AF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5477256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chờ &gt;20 phút hoặc không được hỗ trợ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C9DE74C-304A-4528-B4A5-1EF10DD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800600"/>
            <a:ext cx="224028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6F6"/>
          </a:solidFill>
          <a:ln xmlns:a="http://schemas.openxmlformats.org/drawingml/2006/main" w="12700">
            <a:solidFill>
              <a:srgbClr val="F5C9CC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B5D4781-A026-47EA-AE9F-53EC44E0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047488"/>
            <a:ext cx="1783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101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C72127"/>
                </a:solidFill>
              </a:rPr>
              <a:t>Nguồn: khảo sát CP4, n=31. 19/31 xác nhận giảng viên khó biết ai đang gặp khó khăn.</a:t>
            </a:r>
          </a:p>
        </p:txBody>
      </p:sp>
    </p:spTree>
    <p:extLst>
      <p:ext uri="{BB962C8B-B14F-4D97-AF65-F5344CB8AC3E}">
        <p14:creationId xmlns:p14="http://schemas.microsoft.com/office/powerpoint/2010/main" val="11583291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c4327b6b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06001E8-56E1-4BF6-B3C3-27D2225A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EF62721-7132-4A5B-94B6-DE75F221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53BF787-8577-4CEA-9394-9CF466B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574379-D353-4A2D-9790-E4ECA005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169B61-AE4A-442B-BD57-86515C69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 Lecture Pulse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9536C08-8E84-43A0-B99E-3D0C5A5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Biến sự im lặng của lớp học thành tín hiệu hành động realtime cho giảng viên.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FD0B155-8000-4505-8E89-804A619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14173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B08F851-85BB-4AB6-AD13-F4FDEE4E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148840"/>
            <a:ext cx="36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34D8B"/>
                </a:solidFill>
              </a:rPr>
              <a:t>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B0FACEF-9BD6-4275-8FBA-F1E7E2B6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5059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2F55"/>
                </a:solidFill>
              </a:rPr>
              <a:t>Checkpoint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94D581F-2D19-4EF0-8E65-FD590DE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4912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0657D"/>
                </a:solidFill>
              </a:rPr>
              <a:t>Quiz gắn với slide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4D0D968-F26A-4E90-8A06-B5BA460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54203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4D8B"/>
            </a:solidFill>
            <a:prstDash val="solid"/>
            <a:headEnd type="none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38881D7-5061-4D56-AB16-D7266BBC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65960"/>
            <a:ext cx="14173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8CC5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D8283FF-1FC6-4262-9591-5C83AC6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148840"/>
            <a:ext cx="36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D8B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BEF4D22-A5DC-42D3-8B90-24DA871C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45059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2F55"/>
                </a:solidFill>
              </a:rPr>
              <a:t>Class Pulse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94B56BF-1FF1-4810-AE5F-ABB1BB2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724912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0657D"/>
                </a:solidFill>
              </a:rPr>
              <a:t>Tỷ lệ đúng &amp; misconception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0B3C81F-7B95-4A92-90D7-E6C9145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54203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4D8B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5BAA89C-EA28-48F6-AA60-5B6AC33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65960"/>
            <a:ext cx="14173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C7711B-FBEB-4FCD-9019-D044D6BB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148840"/>
            <a:ext cx="36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34D8B"/>
                </a:solidFill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7A56E3E-C041-416D-ACBE-9D97282E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5059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2F55"/>
                </a:solidFill>
              </a:rPr>
              <a:t>Intervention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A74DBFB-A72C-4727-B459-43FBBE39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24912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0657D"/>
                </a:solidFill>
              </a:rPr>
              <a:t>Giảng viên can thiệp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A27C02-D2BD-4DC3-8A01-A2DEF3F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4203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4D8B"/>
            </a:solidFill>
            <a:prstDash val="solid"/>
            <a:headEnd type="none"/>
            <a:tailEnd type="triangle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7A9995-2E48-4930-AB73-9F1222D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65960"/>
            <a:ext cx="14173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DBD35D4-C13D-44CA-833D-8AAA69C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148840"/>
            <a:ext cx="36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34D8B"/>
                </a:solidFill>
              </a:rPr>
              <a:t>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3C0CAC1-95A5-4902-A32B-62CE1CC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45059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2F55"/>
                </a:solidFill>
              </a:rPr>
              <a:t>Follow-up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7A16C21-CCDC-4D0E-A18F-0EC7033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724912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0657D"/>
                </a:solidFill>
              </a:rPr>
              <a:t>Kiểm tra lại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C93CB87-4656-48B0-85D0-8212D26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4203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4D8B"/>
            </a:solidFill>
            <a:prstDash val="solid"/>
            <a:headEnd type="none"/>
            <a:tailEnd type="triangle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5435E7D-0ABA-4DD2-BB0A-1AE8800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1417320" cy="1143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151F845-4800-4E80-BBD4-CDB409D7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148840"/>
            <a:ext cx="36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34D8B"/>
                </a:solidFill>
              </a:rPr>
              <a:t>5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FF2A442-48B5-41D0-9EA1-F68F8A4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50592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2F55"/>
                </a:solidFill>
              </a:rPr>
              <a:t>Recovery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7FD2796-616D-4911-A9B3-3E02193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0657D"/>
                </a:solidFill>
              </a:rPr>
              <a:t>Đo lớp đã hiểu hơn chưa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AC7AB25-1172-40AA-BFBF-4113A940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694176"/>
            <a:ext cx="4800600" cy="169164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376785F-8239-460F-9C16-0F74845E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72127"/>
                </a:solidFill>
              </a:rPr>
              <a:t>Giải pháp không phải là chatbot tổng quát</a:t>
            </a:r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2E051FB-37B7-40F0-B9DD-988B5E1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15968"/>
            <a:ext cx="4160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AI soạn checkpoint từ nội dung slide.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Cả lớp phản hồi nhanh, riêng tư, không cần đổi tab.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Rule engine kết luận lớp đã hiểu hay cần can thiệp.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77CE92A-06E0-4238-86E3-E84FAAD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694176"/>
            <a:ext cx="4800600" cy="169164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592CFE3-7DEC-4EAE-9B3B-D9445C6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393192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4D8B"/>
                </a:solidFill>
              </a:rPr>
              <a:t>Điểm khác biệt so với Kahoot/poll</a:t>
            </a:r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5681860-61CA-4675-B772-97837D3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4315968"/>
            <a:ext cx="4160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Không chỉ đo đúng/sai, mà chỉ ra misconception.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Không chỉ tạo biểu đồ, mà đề xuất hành động.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Không chỉ tương tác, mà đo được recovery sau can thiệp.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7F348E88-298F-4606-8947-310ABA29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696712"/>
            <a:ext cx="86868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6F6"/>
          </a:solidFill>
          <a:ln xmlns:a="http://schemas.openxmlformats.org/drawingml/2006/main" w="12700">
            <a:solidFill>
              <a:srgbClr val="D5E9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E3205F8-2AD6-4CE7-9F58-867D2EFB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5843016"/>
            <a:ext cx="82478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2F55"/>
                </a:solidFill>
              </a:rPr>
              <a:t>Kahoot đo học viên trả lời đúng bao nhiêu. Lecture Pulse giúp giảng viên biết phải làm gì tiếp theo.</a:t>
            </a:r>
          </a:p>
        </p:txBody>
      </p:sp>
    </p:spTree>
    <p:extLst>
      <p:ext uri="{BB962C8B-B14F-4D97-AF65-F5344CB8AC3E}">
        <p14:creationId xmlns:p14="http://schemas.microsoft.com/office/powerpoint/2010/main" val="2143490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7eea9e4da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F0BA6DF-A71E-4982-9FED-86B59755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BA4DE1-6EC8-4AF8-891E-D418D3D9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587579-DD77-4C85-B52E-B8F2169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E26A8A7-0D5A-4FA0-8360-8148228A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AC96B6C-7F45-40C4-B2A9-4E206A5D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Luồng demo sản phẩm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FCF9F4D-58B1-4659-8980-81E67B4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Một phiên học hoàn chỉnh: slide → checkpoint → pulse → can thiệp → phục hồi.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487F116-6055-4FFF-8BA2-E113B97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212080" cy="356616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6BBC2D6-60ED-4F80-B8DE-AD8735E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2F55"/>
                </a:solidFill>
              </a:rPr>
              <a:t>Teacher view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552595-9141-4850-83BA-2B4548C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8608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193C4D-ABA2-43CF-BC8B-1E63DF04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74320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4D8B"/>
          </a:solidFill>
          <a:ln xmlns:a="http://schemas.openxmlformats.org/drawingml/2006/main" w="12700">
            <a:solidFill>
              <a:srgbClr val="134D8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E25BC25-C9A1-4D9E-80CA-CAFC023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816352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C2606EA-7381-4D2C-8E5D-1CD38D4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Bấm “Gợi ý câu hỏi” từ slide đang giảng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40E17C1-EBBB-4CC3-B545-A328A1D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4E21A89-F31E-4EF9-92C6-509664C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59359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4D8B"/>
          </a:solidFill>
          <a:ln xmlns:a="http://schemas.openxmlformats.org/drawingml/2006/main" w="12700">
            <a:solidFill>
              <a:srgbClr val="134D8B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3608685-3149-4780-8005-AF22029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666744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028A406-33F4-4B72-8BAD-727F9BA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630168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Duyệt checkpoint: câu hỏi, misconception, hint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5C49248-D313-4002-A82A-9984D296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9392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B65F21-1328-41A1-AFB2-069A261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443984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21EB3A0-4037-4978-85C7-8970765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517136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B77FF6F-CF49-4AE9-B92F-B659E05F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80560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Xem Class Pulse và chọn can thiệp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CE3E4B0-B098-4C12-8D15-98B07A3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74520"/>
            <a:ext cx="5212080" cy="356616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843E3CB-1FC5-48DC-9EA2-1CB662F8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2F55"/>
                </a:solidFill>
              </a:rPr>
              <a:t>Learner view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50C4714-5189-4FCF-89C7-EAD485C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78608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9F9A590-DBC2-45CF-92CD-928A2732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74320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EA6"/>
          </a:solidFill>
          <a:ln xmlns:a="http://schemas.openxmlformats.org/drawingml/2006/main" w="12700">
            <a:solidFill>
              <a:srgbClr val="1A5EA6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EC21387-8BB5-4A52-B119-92BB621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816352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7F9F1F-77D2-461C-9F9B-1F25C40B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Nhận quiz ngay trong VLearn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3309CD9-3523-4F43-81CD-DF69B4D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29000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AD0E67A-82CF-49DB-9B83-D82475D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59359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EA6"/>
          </a:solidFill>
          <a:ln xmlns:a="http://schemas.openxmlformats.org/drawingml/2006/main" w="12700">
            <a:solidFill>
              <a:srgbClr val="1A5EA6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ACF04AC-8F76-472C-AE39-B9F18B5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3666744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EA238E3-CADE-43AB-AF00-93DA17C2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630168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Trả lời + chọn mức độ chắc chắn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FDBFDCD-50CA-4429-B2DF-CD738B8B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279392"/>
            <a:ext cx="438912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4850BE3-1022-4B7F-9DD9-29C4F41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443984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2700">
            <a:solidFill>
              <a:srgbClr val="16A34A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8AC1657-4A23-4F9F-BECC-8E9256C0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4517136"/>
            <a:ext cx="137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47514A75-FEDA-490F-8568-7F323DD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480560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B2F55"/>
                </a:solidFill>
              </a:rPr>
              <a:t>Nhận hint đúng lỗi và làm follow-up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C67BAFB1-44B1-48DF-9F87-08099A2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965960"/>
            <a:ext cx="0" cy="3383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E4F2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E09596EF-9C2B-4AF3-A649-04C7307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60720"/>
            <a:ext cx="100584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5E9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F227DAE-5BA3-4420-A5C3-EEE96895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907024"/>
            <a:ext cx="96194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077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2F55"/>
                </a:solidFill>
              </a:rPr>
              <a:t>Ca thường: lớp Ready → tiếp tục. Ca khó: nhiều đáp án sai → Class Pulse báo “Cần giải thích thêm” → giảng viên can thiệp → follow-up đo phục hồi.</a:t>
            </a:r>
          </a:p>
        </p:txBody>
      </p:sp>
    </p:spTree>
    <p:extLst>
      <p:ext uri="{BB962C8B-B14F-4D97-AF65-F5344CB8AC3E}">
        <p14:creationId xmlns:p14="http://schemas.microsoft.com/office/powerpoint/2010/main" val="11075268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e93c9ce5e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49D8E54-D188-4AA3-A939-28122C9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6197C2E-92B0-463F-8480-D017445B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78ED593-3F7C-4C96-A84D-CF94D99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BB0A3F-8C90-41AF-BFF9-3A72232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8A526C7-94D3-47BE-8828-55C0C34D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AI tạo nội dung. Rule bảo vệ quyết định.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CA5C09F-2876-4745-9DFE-E59CD4BB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AI Teaching Copilot hỗ trợ giảng viên, nhưng không thay quyền kiểm soát của giảng viên.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79BBD8F-B7BF-44CA-91EC-B2A9A0E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38528"/>
            <a:ext cx="3337560" cy="246888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2754C20-A645-4CE7-8F10-4C0CE6A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199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4D8B"/>
                </a:solidFill>
              </a:rPr>
              <a:t>AI Teaching Copilot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95A54EC-F40A-4C95-8D64-2228257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0048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Soạn checkpoint từ slide.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Tạo self-test riêng tư.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Gom câu hỏi hỗ trợ tương tự.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ACE6C9D-206D-4675-8ED1-D46E1AD2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337560" cy="246888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EC71844-F416-4D89-AFEF-DF7E6848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2199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72127"/>
                </a:solidFill>
              </a:rPr>
              <a:t>Rule Engine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20D328B-0CD9-48F6-BDA8-991C5217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70048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Tính participation, đúng/sai.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Xác định misconception ≥25%.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Phân loại Ready / Uncertain / Struggling.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15A3B7D-B67C-4880-810C-046D7067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8528"/>
            <a:ext cx="3337560" cy="246888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2D78410-4B07-4249-89FD-69D99722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2199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6A34A"/>
                </a:solidFill>
              </a:rPr>
              <a:t>Teacher Control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89118A7-A5B8-45D2-B1D7-554D6204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70048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Duyệt/sửa checkpoint.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Chủ động kích hoạt quiz.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Chọn can thiệp và follow-up.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364DD33-5795-42D7-A32B-D8BCFEC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15468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34D8B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A3BB7FB-3261-42E9-AC31-8FFA8AA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315468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34D8B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5949E61-22E7-4E44-A587-23A7B394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56048"/>
            <a:ext cx="10469880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F7D48B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EC3942E-44C2-4923-A2A8-80163214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2080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B2F55"/>
                </a:solidFill>
              </a:rPr>
              <a:t>Guardrails: chỉ dùng nội dung slide • hint không lộ đáp án • AI không tự publish • không chấm điểm/xếp hạng • không tự quyết lớp đã hiểu hay chưa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914949D-C0A6-46F4-99DF-A72E43E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53328"/>
            <a:ext cx="10241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50657D"/>
                </a:solidFill>
              </a:rPr>
              <a:t>Tech stack MVP: React 18 + Vite + Tailwind · FastAPI + Pydantic · SSE + polling fallback · Gemini/OpenAI-compatible API · pypdf · in-memory store.</a:t>
            </a:r>
          </a:p>
        </p:txBody>
      </p:sp>
    </p:spTree>
    <p:extLst>
      <p:ext uri="{BB962C8B-B14F-4D97-AF65-F5344CB8AC3E}">
        <p14:creationId xmlns:p14="http://schemas.microsoft.com/office/powerpoint/2010/main" val="11704744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6be44062d4c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5849E4A-D9A5-4118-9E82-52AEEA3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9BED081-FDDE-4176-97DE-F4AE283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07A27C-95FF-4779-9A7F-54DDF6FC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A85AA99-D15C-424A-9A04-12F1B52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8688E4C-105B-4D75-80F2-B5E705E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Eval tốt hơn, người dùng đỡ ngại hỏi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1F6EA99-642E-4543-AC2F-C6365F1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Eval đo chất lượng AI; phản hồi thật giúp nhóm chốt cách hướng dẫn learner flow.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B12841E-5AEE-4303-B851-FEC66F12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4389120" cy="338328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87133F7-5F4D-4664-9E57-D2410BBC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4D8B"/>
                </a:solidFill>
              </a:rPr>
              <a:t>Phản hồi người thử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05B752B-67FD-482F-B436-9F9DADA6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6040"/>
            <a:ext cx="173736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C4EE783-BBA5-4CB6-A2CF-FC79903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60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D8B"/>
          </a:solidFill>
          <a:ln xmlns:a="http://schemas.openxmlformats.org/drawingml/2006/main" w="12700">
            <a:solidFill>
              <a:srgbClr val="134D8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C166AB1-5F02-47FD-8A32-8504415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889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34D8B"/>
                </a:solidFill>
              </a:rPr>
              <a:t>Nam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BE17585-6565-4514-AD59-4AB7D9CA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282696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19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“UI đẹp, nhưng một số trạng thái và nút chưa rõ.”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9641ED4-2CFA-4366-85CC-36F2B821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06040"/>
            <a:ext cx="173736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D5E3310-EEFC-442D-8E5A-15A5E4EC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060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3BD6589-E99E-4EA4-A23E-DB1D2D98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7889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</a:rPr>
              <a:t>Sơn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8813A7F-23E4-436B-811B-57AAFF6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282696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“Đỡ áp lực hơn khi cần hỗ trợ kiến thức.”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EBC0C54-80C2-4148-AAF6-4C7F166E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36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857022-8872-49C2-B0FB-BB7E984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5242610-4AE6-4468-839A-859B0F28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160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2127"/>
                </a:solidFill>
              </a:rPr>
              <a:t>Lab coach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C08C59E-62E0-4EEB-A397-0D731CA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654296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“Ý tưởng và tính năng mới mẻ, ok.”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70D554F-10BA-42A0-9AE7-3B506F7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977640"/>
            <a:ext cx="1737360" cy="1143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6D3E1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C0876F0-C275-4780-B0BF-16030B0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9776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435976F-01CC-401C-B291-FE3194E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160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2127"/>
                </a:solidFill>
              </a:rPr>
              <a:t>Đã sửa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8D967EB-37F1-4DB9-933C-3EDB584C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654296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0657D"/>
                </a:solidFill>
              </a:rPr>
              <a:t>Giải thích checkpoint mẫu và 3 trạng thái Pulse.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9C56425-89F1-4783-A9F3-C256474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965960"/>
            <a:ext cx="5852160" cy="338328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225B848-65A1-4C3F-B668-F1578A0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24028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2F55"/>
                </a:solidFill>
              </a:rPr>
              <a:t>AI eval story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2022593-6D8A-47FE-A121-0C7AF89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83464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0657D"/>
                </a:solidFill>
              </a:rPr>
              <a:t>Run 01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3868D2A-1543-4057-81AF-8C2FF1D7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88920"/>
            <a:ext cx="6858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127"/>
          </a:solidFill>
          <a:ln xmlns:a="http://schemas.openxmlformats.org/drawingml/2006/main" w="12700">
            <a:solidFill>
              <a:srgbClr val="C72127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C05EF32-6181-4449-AC8A-39700719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34640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72127"/>
                </a:solidFill>
              </a:rPr>
              <a:t>15%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2A575DB-123E-457A-8ADD-FE1EA61C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4747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0657D"/>
                </a:solidFill>
              </a:rPr>
              <a:t>Run 02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1B1661BB-46CD-4DBF-8563-1E0F32A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29000"/>
            <a:ext cx="38862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2700">
            <a:solidFill>
              <a:srgbClr val="16A34A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DD785DB-4504-473F-877B-722E4E5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474720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A34A"/>
                </a:solidFill>
              </a:rPr>
              <a:t>85%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438736E-3A5A-4DD1-A97D-BDC69F59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578608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34D8B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25FDD188-3368-4054-816C-0B51397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6908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34D8B"/>
                </a:solidFill>
              </a:rPr>
              <a:t>Quality bar 80%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05B971A3-E140-44FA-BD1E-91A7DBDC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407408"/>
            <a:ext cx="50292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5E9FF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2BE61AD-783E-49E3-BE56-041E1AD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553712"/>
            <a:ext cx="459028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2F55"/>
                </a:solidFill>
              </a:rPr>
              <a:t>Sau khi siết nguồn về đúng slide, kiểm tra cấu trúc, chống hint lộ đáp án và thêm vòng repair: 3/20 → 17/20.</a:t>
            </a:r>
          </a:p>
        </p:txBody>
      </p:sp>
    </p:spTree>
    <p:extLst>
      <p:ext uri="{BB962C8B-B14F-4D97-AF65-F5344CB8AC3E}">
        <p14:creationId xmlns:p14="http://schemas.microsoft.com/office/powerpoint/2010/main" val="13256897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4a6c26a914f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286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BCB3D99-68F3-4C05-82AA-CBD31241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774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VLearn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22A45F5-9124-443C-B02C-25A0F527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548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0657D"/>
                </a:solidFill>
                <a:latin typeface="Arial"/>
                <a:ea typeface="Arial"/>
                <a:cs typeface="Arial"/>
              </a:rPr>
              <a:t>Lecture Pulse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2778CEA-4C40-4002-A20F-CD69474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777240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4F2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6AF1591-F214-4D9E-8C0A-98F3F481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92608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7B8A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2CEE32-4572-43C0-8BC5-1E207791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8869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B2F55"/>
                </a:solidFill>
                <a:latin typeface="Arial"/>
                <a:ea typeface="Arial"/>
                <a:cs typeface="Arial"/>
              </a:rPr>
              <a:t>Nếu có thêm một tuần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D75128D-D743-4B79-8D1F-2564935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9509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50657D"/>
                </a:solidFill>
                <a:latin typeface="Arial"/>
                <a:ea typeface="Arial"/>
                <a:cs typeface="Arial"/>
              </a:rPr>
              <a:t>Ba ưu tiên bám vào phản hồi người thử và 3 ca eval còn fail.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E0321C0-40E0-4946-8CE3-4FC9938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5303520" cy="352044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5A053B-3300-4038-A2A9-AA704E8B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798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4D8B"/>
                </a:solidFill>
              </a:rPr>
              <a:t>MVP hiện tại / làm ngay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F2FBAD6-DFC4-4592-8213-8B00DE72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5184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Teacher/Learner realtime.
</a:t>
            </a: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AI thật soạn checkpoint từ slide.
</a:t>
            </a: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Class Pulse + misconception + recovery.
</a:t>
            </a: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Hint đúng nhóm lỗi, không tính điểm.
</a:t>
            </a: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Prototype có thể demo end-to-end.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64E719C-C2CA-4657-9F75-843F89F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5257800" cy="352044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4F2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C7D5E7">
                <a:alpha val="13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7A44D6-6213-4353-BCBA-7D1ED43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5798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6A34A"/>
                </a:solidFill>
              </a:rPr>
              <a:t>Ưu tiên tiếp theo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9CFC7F9-1ECF-44B3-A375-44D2A7B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15184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083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Làm rõ nhãn, nút và 3 trạng thái Pulse.</a:t>
            </a:r>
            <a:b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</a:b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Tạo checkpoint ở mọi slide.</a:t>
            </a:r>
            <a:b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</a:b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Cải thiện follow-up cho 3 ca eval còn fail.</a:t>
            </a:r>
            <a:b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</a:b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Pilot lớp thật và đo recovery.</a:t>
            </a:r>
            <a:b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</a:br>
          </a:p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Tích hợp auth/roster và lưu trữ bền vững.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A039593-1377-48C1-A534-767F604F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788152"/>
            <a:ext cx="987552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6F6"/>
          </a:solidFill>
          <a:ln xmlns:a="http://schemas.openxmlformats.org/drawingml/2006/main" w="12700">
            <a:solidFill>
              <a:srgbClr val="D5E9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B6B3984-2154-4490-B312-586B0B26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5934456"/>
            <a:ext cx="943660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2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2F55"/>
                </a:solidFill>
              </a:rPr>
              <a:t>North Star: Concept Recovery Rate - tỷ lệ checkpoint “chưa đạt” được cải thiện sau khi giảng viên can thiệp.</a:t>
            </a:r>
          </a:p>
        </p:txBody>
      </p:sp>
    </p:spTree>
    <p:extLst>
      <p:ext uri="{BB962C8B-B14F-4D97-AF65-F5344CB8AC3E}">
        <p14:creationId xmlns:p14="http://schemas.microsoft.com/office/powerpoint/2010/main" val="5091912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2026-07-31T07:29:57.9870000Z</dcterms:created>
  <dcterms:modified xsi:type="dcterms:W3CDTF">2026-07-31T07:29:57.9880000Z</dcterms:modified>
</coreProperties>
</file>