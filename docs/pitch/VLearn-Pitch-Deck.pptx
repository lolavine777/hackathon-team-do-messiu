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Mở đầu</a:t>
            </a:r>
          </a:p>
          <a:p>
            <a:r>
              <a:t>Em xin bắt đầu bằng một tình huống rất quen thuộc. Đây là VLearn Interaction Layer — lớp tương tác</a:t>
            </a:r>
          </a:p>
          <a:p>
            <a:r>
              <a:t>đặt ngay trên màn hình học liệu hiện có.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[0:10–0:35] Vấn đề</a:t>
            </a:r>
          </a:p>
          <a:p>
            <a:r>
              <a:t>Trong một lớp học đông, giảng viên đang trình chiếu PDF và tiếp tục giảng. Ở phía dưới, có những sinh viên</a:t>
            </a:r>
          </a:p>
          <a:p>
            <a:r>
              <a:t>đã hiểu, có người chỉ hiểu một phần, và cũng có người đã bị kẹt từ vài slide trước.</a:t>
            </a:r>
          </a:p>
          <a:p>
            <a:r>
              <a:t>Nhưng gần như không ai nói ra. Sinh viên ngại phát biểu, sợ câu hỏi của mình quá đơn giản, hoặc thậm chí</a:t>
            </a:r>
          </a:p>
          <a:p>
            <a:r>
              <a:t>không biết phải mô tả điều mình chưa hiểu như thế nào. Còn giảng viên nhìn cả lớp im lặng và mặc định</a:t>
            </a:r>
          </a:p>
          <a:p>
            <a:r>
              <a:t>rằng mọi người vẫn đang theo kịp.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[0:35–1:15] Bằng chứng</a:t>
            </a:r>
          </a:p>
          <a:p>
            <a:r>
              <a:t>Chúng em đã khảo sát 36 sinh viên có trải nghiệm học thực hành trên LMS. Kết quả cho thấy 88,9% sinh viên</a:t>
            </a:r>
          </a:p>
          <a:p>
            <a:r>
              <a:t>thường tự tìm đến ChatGPT khi gặp khó khăn. Tuy nhiên, 50% ngại hỏi vì sợ câu hỏi quá đơn giản,</a:t>
            </a:r>
          </a:p>
          <a:p>
            <a:r>
              <a:t>44,4% ngại phát biểu trước lớp và 41,7% không biết mô tả lỗi hoặc vấn đề của mình. Khoảng 55,6% sinh viên</a:t>
            </a:r>
          </a:p>
          <a:p>
            <a:r>
              <a:t>phải chờ trên 10 phút hoặc thường không nhận được hỗ trợ phù hợp.</a:t>
            </a:r>
          </a:p>
          <a:p>
            <a:r>
              <a:t>Như vậy, vấn đề không phải sinh viên không cần giúp đỡ. Vấn đề là giữa lúc sinh viên bắt đầu không hiểu</a:t>
            </a:r>
          </a:p>
          <a:p>
            <a:r>
              <a:t>và lúc giảng viên nhận ra điều đó đang tồn tại một khoảng trống rất lớn.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[1:15–1:45] Bối cảnh LMS hiện tại</a:t>
            </a:r>
          </a:p>
          <a:p>
            <a:r>
              <a:t>LMS hiện tại gần như chỉ là nơi sinh viên mở và đọc PDF. Giảng viên thậm chí không sử dụng nền tảng này</a:t>
            </a:r>
          </a:p>
          <a:p>
            <a:r>
              <a:t>khi dạy — họ vẫn mở file trực tiếp từ máy tính và trình chiếu như bình thường.</a:t>
            </a:r>
          </a:p>
          <a:p>
            <a:r>
              <a:t>Vì vậy, chúng em không cố thay đổi toàn bộ LMS, cũng không yêu cầu giảng viên chuyển sang một quy trình</a:t>
            </a:r>
          </a:p>
          <a:p>
            <a:r>
              <a:t>giảng dạy mới. Chúng em chỉ tích hợp thêm một lớp tương tác vào đúng màn hình học liệu hiện có.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[1:45–2:20] Giới thiệu giải pháp</a:t>
            </a:r>
          </a:p>
          <a:p>
            <a:r>
              <a:t>Giải pháp của chúng em là VLearn Interaction Layer — một lớp tương tác hai chiều giữa sinh viên và</a:t>
            </a:r>
          </a:p>
          <a:p>
            <a:r>
              <a:t>giảng viên, hoạt động song song với file PDF.</a:t>
            </a:r>
          </a:p>
          <a:p>
            <a:r>
              <a:t>Ở phía sinh viên: phản hồi mức độ hiểu bằng một thao tác; tham gia quiz hoặc poll nhanh; xem những nội dung</a:t>
            </a:r>
          </a:p>
          <a:p>
            <a:r>
              <a:t>cả lớp đang cảm thấy khó; đặt câu hỏi riêng cho trợ giảng; hoặc bấm "Tôi cũng chưa hiểu" với một câu hỏi đã có.</a:t>
            </a:r>
          </a:p>
          <a:p>
            <a:r>
              <a:t>Ở phía giảng viên, họ vẫn mở PDF trực tiếp từ máy như trước. Nhưng bên cạnh bài giảng sẽ có một</a:t>
            </a:r>
          </a:p>
          <a:p>
            <a:r>
              <a:t>Interaction Console giúp họ nhìn thấy trạng thái thực của lớp.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[2:20–2:50] Demo — bước 1</a:t>
            </a:r>
          </a:p>
          <a:p>
            <a:r>
              <a:t>Giảng viên mở file PDF trên máy và bắt đầu phiên học. Sau khi giảng một phần, giảng viên bấm</a:t>
            </a:r>
          </a:p>
          <a:p>
            <a:r>
              <a:t>"Gửi Learning Pulse". Ngay lập tức, sinh viên nhận ba lựa chọn: "Đã hiểu", "Hơi mơ hồ", hoặc "Đang bị kẹt".</a:t>
            </a:r>
          </a:p>
          <a:p>
            <a:r>
              <a:t>Giả sử kết quả trả về cho thấy 42% lớp đang mơ hồ hoặc bị kẹt. Thay vì tiếp tục giảng theo cảm tính,</a:t>
            </a:r>
          </a:p>
          <a:p>
            <a:r>
              <a:t>hệ thống đề xuất giảng viên dừng lại và gửi một poll kiểm tra nhanh. Sinh viên trả lời poll ngay trong</a:t>
            </a:r>
          </a:p>
          <a:p>
            <a:r>
              <a:t>panel bên cạnh 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[2:50–3:20] Demo — bước 2</a:t>
            </a:r>
          </a:p>
          <a:p>
            <a:r>
              <a:t>Đồng thời, một sinh viên chưa hiểu Attention Mask nhưng ngại phát biểu. Bạn ấy bấm "Hỏi riêng trợ giảng".</a:t>
            </a:r>
          </a:p>
          <a:p>
            <a:r>
              <a:t>VLearn tự động đính kèm tên file, trang đang xem và nội dung liên quan — sinh viên không cần phải giải thích</a:t>
            </a:r>
          </a:p>
          <a:p>
            <a:r>
              <a:t>lại toàn bộ bối cảnh.</a:t>
            </a:r>
          </a:p>
          <a:p>
            <a:r>
              <a:t>Nếu có nhiều câu hỏi tương tự, AI chạy phía sau để gom chúng thành một vấn đề chung, ví dụ:</a:t>
            </a:r>
          </a:p>
          <a:p>
            <a:r>
              <a:t>"Có 8 sinh viên chưa hiểu Attention Mask dùng để làm gì."</a:t>
            </a:r>
          </a:p>
          <a:p>
            <a:r>
              <a:t>Giảng viên có thể trả lời riêng, trả lời ẩn danh cho cả lớp, hoặc đăng một Clarification Card ngay tại slide đó.</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[3:20–3:30] Demo — màn hình giảng viên</a:t>
            </a:r>
          </a:p>
          <a:p>
            <a:r>
              <a:t>Đây là Interaction Console. Sinh viên nhận phản hồi đúng ngữ cảnh, xác nhận "Đã hiểu", và giảng viên mới</a:t>
            </a:r>
          </a:p>
          <a:p>
            <a:r>
              <a:t>tiếp tục sang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[3:30–4:05] Vai trò của AI</a:t>
            </a:r>
          </a:p>
          <a:p>
            <a:r>
              <a:t>Điểm quan trọng là chúng em không đặt AI ở phía trước dưới dạng một chatbot khác. AI hoạt động ở phía sau để:</a:t>
            </a:r>
          </a:p>
          <a:p>
            <a:r>
              <a:t>gom các câu hỏi giống nhau; phát hiện nội dung đang gây khó khăn; tóm tắt tín hiệu từ cả lớp; và đề xuất</a:t>
            </a:r>
          </a:p>
          <a:p>
            <a:r>
              <a:t>thời điểm giảng viên nên can thiệp.</a:t>
            </a:r>
          </a:p>
          <a:p>
            <a:r>
              <a:t>Quyết định cuối cùng vẫn thuộc về giảng viên. AI không thay giảng viên trả lời, không tự chấm điểm cuối cùng</a:t>
            </a:r>
          </a:p>
          <a:p>
            <a:r>
              <a:t>và không âm thầm đánh giá sinh viên.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[4:05–4:35] Vì sao ưu tiên các tính năng này?</a:t>
            </a:r>
          </a:p>
          <a:p>
            <a:r>
              <a:t>Trong khảo sát, tính năng được chọn quan trọng nhất là gợi ý hoặc hỗ trợ cá nhân khi gặp lỗi, tiếp theo là</a:t>
            </a:r>
          </a:p>
          <a:p>
            <a:r>
              <a:t>cảnh báo giảng viên khi cả lớp gặp khó khăn. Quiz và poll nhanh cũng nhận được nhu cầu rõ ràng. Trong khi đó,</a:t>
            </a:r>
          </a:p>
          <a:p>
            <a:r>
              <a:t>gamification có mức ưu tiên rất thấp.</a:t>
            </a:r>
          </a:p>
          <a:p>
            <a:r>
              <a:t>Vì vậy, MVP của chúng em không có bảng xếp hạng, không có badge và không cố xây một trợ lý AI làm mọi thứ.</a:t>
            </a:r>
          </a:p>
          <a:p>
            <a:r>
              <a:t>Chúng em chỉ tập trung vào vòng lặp quan trọng nhất: sinh viên thể hiện khó khăn → giảng viên nhìn thấy →</a:t>
            </a:r>
          </a:p>
          <a:p>
            <a:r>
              <a:t>tương tác xảy ra → sinh viên xác nhận đã hiểu.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[4:35–4:50] Giá trị</a:t>
            </a:r>
          </a:p>
          <a:p>
            <a:r>
              <a:t>VLearn Interaction Layer biến một màn hình đọc PDF thụ động thành một không gian học có tương tác, nhưng</a:t>
            </a:r>
          </a:p>
          <a:p>
            <a:r>
              <a:t>không làm thay đổi thói quen giảng dạy hiện tại.</a:t>
            </a:r>
          </a:p>
          <a:p>
            <a:r>
              <a:t>Với sinh viên, đây là một cách an toàn để nói rằng mình chưa hiểu. Với giảng viên, đây là khả năng nhìn thấy</a:t>
            </a:r>
          </a:p>
          <a:p>
            <a:r>
              <a:t>trạng thái thật của lớp trước khi vấn đề biến thành điểm thấp hoặc sinh viên bị bỏ lại phía sau. Và với</a:t>
            </a:r>
          </a:p>
          <a:p>
            <a:r>
              <a:t>nhà trường, đây là một cách nâng cấp LMS hiện có mà không cần xây lại toàn bộ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[4:50–5:00] Kết thúc</a:t>
            </a:r>
          </a:p>
          <a:p>
            <a:r>
              <a:t>Thông điệp của chúng em rất đơn giản: Sinh viên không cần thêm một nơi để đọc tài liệu.</a:t>
            </a:r>
          </a:p>
          <a:p>
            <a:r>
              <a:t>Họ cần một cách để được lắng nghe ngay trong lúc học.</a:t>
            </a:r>
          </a:p>
          <a:p>
            <a:r>
              <a:t>Em xin cảm 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dự phòng — Q&amp;A]</a:t>
            </a:r>
          </a:p>
          <a:p>
            <a:r>
              <a:t>Dùng khi ban giám khảo hỏi lại tổng quan: vấn đề, bằng chứng, giải pháp, tính khả thi và vòng lặp lõi</a:t>
            </a:r>
          </a:p>
          <a:p>
            <a:r>
              <a:t>của sản phẩm.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814255"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87991"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161727"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5463"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09199"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82935"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56671"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407" y="54864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814255"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987991"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61727"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35463"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09199"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82935"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56671"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30407" y="722376"/>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14255"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87991"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61727"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5463"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509199"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82935"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56671"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030407" y="896112"/>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14255"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87991"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61727"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5463"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509199"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682935"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856671"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030407" y="106984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814255"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87991"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61727"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335463"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509199"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682935"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856671"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030407" y="1243584"/>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764094" y="473766"/>
            <a:ext cx="171432" cy="307149"/>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85525" y="438051"/>
            <a:ext cx="271434" cy="385722"/>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885525" y="438051"/>
            <a:ext cx="271434" cy="385722"/>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53312" y="457200"/>
            <a:ext cx="3657600" cy="384048"/>
          </a:xfrm>
          <a:prstGeom prst="rect">
            <a:avLst/>
          </a:prstGeom>
          <a:noFill/>
        </p:spPr>
        <p:txBody>
          <a:bodyPr wrap="square" lIns="0" rIns="0" tIns="0" bIns="0" anchor="t">
            <a:spAutoFit/>
          </a:bodyPr>
          <a:lstStyle/>
          <a:p>
            <a:pPr algn="l">
              <a:lnSpc>
                <a:spcPct val="120000"/>
              </a:lnSpc>
              <a:spcBef>
                <a:spcPts val="0"/>
              </a:spcBef>
              <a:spcAft>
                <a:spcPts val="0"/>
              </a:spcAft>
            </a:pPr>
            <a:r>
              <a:rPr sz="2200" b="1">
                <a:solidFill>
                  <a:srgbClr val="C72127"/>
                </a:solidFill>
                <a:latin typeface="Segoe UI"/>
              </a:rPr>
              <a:t>V</a:t>
            </a:r>
            <a:r>
              <a:rPr sz="2200" b="1">
                <a:solidFill>
                  <a:srgbClr val="0F3F73"/>
                </a:solidFill>
                <a:latin typeface="Segoe UI"/>
              </a:rPr>
              <a:t>Learn</a:t>
            </a:r>
          </a:p>
        </p:txBody>
      </p:sp>
      <p:sp>
        <p:nvSpPr>
          <p:cNvPr id="49" name="Rounded Rectangle 48"/>
          <p:cNvSpPr/>
          <p:nvPr/>
        </p:nvSpPr>
        <p:spPr>
          <a:xfrm>
            <a:off x="8966149" y="502920"/>
            <a:ext cx="2475738" cy="329184"/>
          </a:xfrm>
          <a:prstGeom prst="roundRect">
            <a:avLst>
              <a:gd name="adj" fmla="val 50000"/>
            </a:avLst>
          </a:prstGeom>
          <a:solidFill>
            <a:srgbClr val="FFFFFF"/>
          </a:solidFill>
          <a:ln w="12700">
            <a:solidFill>
              <a:srgbClr val="DCE9F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00" b="1">
                <a:solidFill>
                  <a:srgbClr val="134D8B"/>
                </a:solidFill>
                <a:latin typeface="Segoe UI"/>
              </a:rPr>
              <a:t>Lớp tương tác tích hợp LMS</a:t>
            </a:r>
          </a:p>
        </p:txBody>
      </p:sp>
      <p:sp>
        <p:nvSpPr>
          <p:cNvPr id="50" name="TextBox 49"/>
          <p:cNvSpPr txBox="1"/>
          <p:nvPr/>
        </p:nvSpPr>
        <p:spPr>
          <a:xfrm>
            <a:off x="0" y="1874519"/>
            <a:ext cx="12191695" cy="274320"/>
          </a:xfrm>
          <a:prstGeom prst="rect">
            <a:avLst/>
          </a:prstGeom>
          <a:noFill/>
        </p:spPr>
        <p:txBody>
          <a:bodyPr wrap="square" lIns="0" rIns="0" tIns="0" bIns="0" anchor="t">
            <a:spAutoFit/>
          </a:bodyPr>
          <a:lstStyle/>
          <a:p>
            <a:pPr algn="ctr">
              <a:lnSpc>
                <a:spcPct val="120000"/>
              </a:lnSpc>
              <a:spcBef>
                <a:spcPts val="0"/>
              </a:spcBef>
              <a:spcAft>
                <a:spcPts val="0"/>
              </a:spcAft>
            </a:pPr>
            <a:r>
              <a:rPr sz="1200" b="1" spc="90">
                <a:solidFill>
                  <a:srgbClr val="134D8B"/>
                </a:solidFill>
                <a:latin typeface="Segoe UI"/>
              </a:rPr>
              <a:t>PITCH DECK  •  HACKATHON</a:t>
            </a:r>
          </a:p>
        </p:txBody>
      </p:sp>
      <p:sp>
        <p:nvSpPr>
          <p:cNvPr id="51" name="TextBox 50"/>
          <p:cNvSpPr txBox="1"/>
          <p:nvPr/>
        </p:nvSpPr>
        <p:spPr>
          <a:xfrm>
            <a:off x="0" y="2240280"/>
            <a:ext cx="12191695" cy="1097280"/>
          </a:xfrm>
          <a:prstGeom prst="rect">
            <a:avLst/>
          </a:prstGeom>
          <a:noFill/>
        </p:spPr>
        <p:txBody>
          <a:bodyPr wrap="square" lIns="0" rIns="0" tIns="0" bIns="0" anchor="t">
            <a:spAutoFit/>
          </a:bodyPr>
          <a:lstStyle/>
          <a:p>
            <a:pPr algn="ctr">
              <a:lnSpc>
                <a:spcPct val="102000"/>
              </a:lnSpc>
              <a:spcBef>
                <a:spcPts val="0"/>
              </a:spcBef>
              <a:spcAft>
                <a:spcPts val="0"/>
              </a:spcAft>
            </a:pPr>
            <a:r>
              <a:rPr sz="5400" b="1">
                <a:solidFill>
                  <a:srgbClr val="061B49"/>
                </a:solidFill>
                <a:latin typeface="Segoe UI"/>
              </a:rPr>
              <a:t>VLearn Interaction Layer</a:t>
            </a:r>
          </a:p>
        </p:txBody>
      </p:sp>
      <p:sp>
        <p:nvSpPr>
          <p:cNvPr id="52" name="TextBox 51"/>
          <p:cNvSpPr txBox="1"/>
          <p:nvPr/>
        </p:nvSpPr>
        <p:spPr>
          <a:xfrm>
            <a:off x="1706727" y="3401568"/>
            <a:ext cx="8778240" cy="914400"/>
          </a:xfrm>
          <a:prstGeom prst="rect">
            <a:avLst/>
          </a:prstGeom>
          <a:noFill/>
        </p:spPr>
        <p:txBody>
          <a:bodyPr wrap="square" lIns="0" rIns="0" tIns="0" bIns="0" anchor="t">
            <a:spAutoFit/>
          </a:bodyPr>
          <a:lstStyle/>
          <a:p>
            <a:pPr algn="ctr">
              <a:lnSpc>
                <a:spcPct val="150000"/>
              </a:lnSpc>
              <a:spcBef>
                <a:spcPts val="0"/>
              </a:spcBef>
              <a:spcAft>
                <a:spcPts val="0"/>
              </a:spcAft>
            </a:pPr>
            <a:r>
              <a:rPr sz="1600" b="1">
                <a:solidFill>
                  <a:srgbClr val="52657F"/>
                </a:solidFill>
                <a:latin typeface="Segoe UI"/>
              </a:rPr>
              <a:t>Sinh viên không cần thêm một nơi để đọc tài liệu.
Họ cần một cách để được lắng nghe ngay trong lúc học.</a:t>
            </a:r>
          </a:p>
        </p:txBody>
      </p:sp>
      <p:sp>
        <p:nvSpPr>
          <p:cNvPr id="53" name="Rounded Rectangle 52"/>
          <p:cNvSpPr/>
          <p:nvPr/>
        </p:nvSpPr>
        <p:spPr>
          <a:xfrm>
            <a:off x="3556736" y="4590288"/>
            <a:ext cx="2887091" cy="438912"/>
          </a:xfrm>
          <a:prstGeom prst="roundRect">
            <a:avLst>
              <a:gd name="adj" fmla="val 28000"/>
            </a:avLst>
          </a:prstGeom>
          <a:solidFill>
            <a:srgbClr val="0837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3556736" y="4526280"/>
            <a:ext cx="2887091" cy="438912"/>
          </a:xfrm>
          <a:prstGeom prst="roundRect">
            <a:avLst>
              <a:gd name="adj" fmla="val 28000"/>
            </a:avLst>
          </a:prstGeom>
          <a:gradFill rotWithShape="1">
            <a:gsLst>
              <a:gs pos="0">
                <a:srgbClr val="2386FF"/>
              </a:gs>
              <a:gs pos="100000">
                <a:srgbClr val="134D8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Xem lớp đang hiểu đến đâu</a:t>
            </a:r>
          </a:p>
        </p:txBody>
      </p:sp>
      <p:sp>
        <p:nvSpPr>
          <p:cNvPr id="55" name="Rounded Rectangle 54"/>
          <p:cNvSpPr/>
          <p:nvPr/>
        </p:nvSpPr>
        <p:spPr>
          <a:xfrm>
            <a:off x="6644995" y="4590288"/>
            <a:ext cx="1989963" cy="374904"/>
          </a:xfrm>
          <a:prstGeom prst="roundRect">
            <a:avLst>
              <a:gd name="adj" fmla="val 50000"/>
            </a:avLst>
          </a:prstGeom>
          <a:gradFill rotWithShape="1">
            <a:gsLst>
              <a:gs pos="0">
                <a:srgbClr val="FF3138"/>
              </a:gs>
              <a:gs pos="100000">
                <a:srgbClr val="C7212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300" b="1">
                <a:solidFill>
                  <a:srgbClr val="FFFFFF"/>
                </a:solidFill>
                <a:latin typeface="Segoe UI"/>
              </a:rPr>
              <a:t>Human-in-the-loop</a:t>
            </a:r>
          </a:p>
        </p:txBody>
      </p:sp>
      <p:sp>
        <p:nvSpPr>
          <p:cNvPr id="56" name="Freeform 55"/>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60" name="TextBox 59"/>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01. VẤN ĐỀ</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02</a:t>
            </a:r>
          </a:p>
        </p:txBody>
      </p:sp>
      <p:sp>
        <p:nvSpPr>
          <p:cNvPr id="7" name="TextBox 6"/>
          <p:cNvSpPr txBox="1"/>
          <p:nvPr/>
        </p:nvSpPr>
        <p:spPr>
          <a:xfrm>
            <a:off x="749808" y="1188720"/>
            <a:ext cx="5577840" cy="1508760"/>
          </a:xfrm>
          <a:prstGeom prst="rect">
            <a:avLst/>
          </a:prstGeom>
          <a:noFill/>
        </p:spPr>
        <p:txBody>
          <a:bodyPr wrap="square" lIns="0" rIns="0" tIns="0" bIns="0" anchor="t">
            <a:spAutoFit/>
          </a:bodyPr>
          <a:lstStyle/>
          <a:p>
            <a:pPr algn="l">
              <a:lnSpc>
                <a:spcPct val="108000"/>
              </a:lnSpc>
              <a:spcBef>
                <a:spcPts val="0"/>
              </a:spcBef>
              <a:spcAft>
                <a:spcPts val="0"/>
              </a:spcAft>
            </a:pPr>
            <a:r>
              <a:rPr sz="3000" b="1">
                <a:solidFill>
                  <a:srgbClr val="061B49"/>
                </a:solidFill>
                <a:latin typeface="Segoe UI"/>
              </a:rPr>
              <a:t>Cả lớp im lặng — nhưng
im lặng không có nghĩa
là đã hiểu.</a:t>
            </a:r>
          </a:p>
        </p:txBody>
      </p:sp>
      <p:sp>
        <p:nvSpPr>
          <p:cNvPr id="8" name="TextBox 7"/>
          <p:cNvSpPr txBox="1"/>
          <p:nvPr/>
        </p:nvSpPr>
        <p:spPr>
          <a:xfrm>
            <a:off x="749808" y="2816352"/>
            <a:ext cx="5440680" cy="91440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Giảng viên trình chiếu PDF và tiếp tục giảng. Phía dưới, có người đã hiểu, có người chỉ hiểu một phần, và có người đã kẹt từ vài slide trước. Gần như không ai nói ra.</a:t>
            </a:r>
          </a:p>
        </p:txBody>
      </p:sp>
      <p:sp>
        <p:nvSpPr>
          <p:cNvPr id="9" name="Rounded Rectangle 8"/>
          <p:cNvSpPr/>
          <p:nvPr/>
        </p:nvSpPr>
        <p:spPr>
          <a:xfrm>
            <a:off x="749808" y="3991356"/>
            <a:ext cx="1691639"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3913632"/>
            <a:ext cx="1691639"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969264" y="4178808"/>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969264" y="4133088"/>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13" name="TextBox 12"/>
          <p:cNvSpPr txBox="1"/>
          <p:nvPr/>
        </p:nvSpPr>
        <p:spPr>
          <a:xfrm>
            <a:off x="969264" y="4626864"/>
            <a:ext cx="1252728" cy="1207008"/>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Ngại phát biểu</a:t>
            </a:r>
          </a:p>
          <a:p>
            <a:pPr algn="l">
              <a:lnSpc>
                <a:spcPct val="130000"/>
              </a:lnSpc>
              <a:spcBef>
                <a:spcPts val="600"/>
              </a:spcBef>
              <a:spcAft>
                <a:spcPts val="0"/>
              </a:spcAft>
            </a:pPr>
            <a:r>
              <a:rPr sz="1100" b="0">
                <a:solidFill>
                  <a:srgbClr val="52657F"/>
                </a:solidFill>
                <a:latin typeface="Segoe UI"/>
              </a:rPr>
              <a:t>Sợ làm gián đoạn tiết học.</a:t>
            </a:r>
          </a:p>
        </p:txBody>
      </p:sp>
      <p:sp>
        <p:nvSpPr>
          <p:cNvPr id="14" name="Rounded Rectangle 13"/>
          <p:cNvSpPr/>
          <p:nvPr/>
        </p:nvSpPr>
        <p:spPr>
          <a:xfrm>
            <a:off x="2624327" y="3991356"/>
            <a:ext cx="1691639"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2624327" y="3913632"/>
            <a:ext cx="1691639"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2843783" y="4178808"/>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843783" y="4133088"/>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18" name="TextBox 17"/>
          <p:cNvSpPr txBox="1"/>
          <p:nvPr/>
        </p:nvSpPr>
        <p:spPr>
          <a:xfrm>
            <a:off x="2843783" y="4626864"/>
            <a:ext cx="1252728" cy="1207008"/>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Sợ câu hỏi đơn giản</a:t>
            </a:r>
          </a:p>
          <a:p>
            <a:pPr algn="l">
              <a:lnSpc>
                <a:spcPct val="130000"/>
              </a:lnSpc>
              <a:spcBef>
                <a:spcPts val="600"/>
              </a:spcBef>
              <a:spcAft>
                <a:spcPts val="0"/>
              </a:spcAft>
            </a:pPr>
            <a:r>
              <a:rPr sz="1100" b="0">
                <a:solidFill>
                  <a:srgbClr val="52657F"/>
                </a:solidFill>
                <a:latin typeface="Segoe UI"/>
              </a:rPr>
              <a:t>Không muốn bị đánh giá.</a:t>
            </a:r>
          </a:p>
        </p:txBody>
      </p:sp>
      <p:sp>
        <p:nvSpPr>
          <p:cNvPr id="19" name="Rounded Rectangle 18"/>
          <p:cNvSpPr/>
          <p:nvPr/>
        </p:nvSpPr>
        <p:spPr>
          <a:xfrm>
            <a:off x="4498848" y="3991356"/>
            <a:ext cx="1691639"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498848" y="3913632"/>
            <a:ext cx="1691639"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718304" y="4178808"/>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718304" y="4133088"/>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23" name="TextBox 22"/>
          <p:cNvSpPr txBox="1"/>
          <p:nvPr/>
        </p:nvSpPr>
        <p:spPr>
          <a:xfrm>
            <a:off x="4718304" y="4626864"/>
            <a:ext cx="1252728" cy="1207008"/>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Không biết mô tả</a:t>
            </a:r>
          </a:p>
          <a:p>
            <a:pPr algn="l">
              <a:lnSpc>
                <a:spcPct val="130000"/>
              </a:lnSpc>
              <a:spcBef>
                <a:spcPts val="600"/>
              </a:spcBef>
              <a:spcAft>
                <a:spcPts val="0"/>
              </a:spcAft>
            </a:pPr>
            <a:r>
              <a:rPr sz="1100" b="0">
                <a:solidFill>
                  <a:srgbClr val="52657F"/>
                </a:solidFill>
                <a:latin typeface="Segoe UI"/>
              </a:rPr>
              <a:t>Chưa gọi tên được điều mình chưa hiểu.</a:t>
            </a:r>
          </a:p>
        </p:txBody>
      </p:sp>
      <p:sp>
        <p:nvSpPr>
          <p:cNvPr id="24" name="Rounded Rectangle 23"/>
          <p:cNvSpPr/>
          <p:nvPr/>
        </p:nvSpPr>
        <p:spPr>
          <a:xfrm>
            <a:off x="6858000" y="1248156"/>
            <a:ext cx="4583887" cy="455371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858000" y="1170432"/>
            <a:ext cx="4583887" cy="4553712"/>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60336" y="1499616"/>
            <a:ext cx="3779215" cy="1554480"/>
          </a:xfrm>
          <a:prstGeom prst="rect">
            <a:avLst/>
          </a:prstGeom>
          <a:noFill/>
        </p:spPr>
        <p:txBody>
          <a:bodyPr wrap="square" lIns="0" rIns="0" tIns="0" bIns="0" anchor="t">
            <a:spAutoFit/>
          </a:bodyPr>
          <a:lstStyle/>
          <a:p>
            <a:pPr algn="l">
              <a:lnSpc>
                <a:spcPct val="130000"/>
              </a:lnSpc>
              <a:spcBef>
                <a:spcPts val="0"/>
              </a:spcBef>
              <a:spcAft>
                <a:spcPts val="0"/>
              </a:spcAft>
            </a:pPr>
            <a:r>
              <a:rPr sz="1900" b="1">
                <a:solidFill>
                  <a:srgbClr val="061B49"/>
                </a:solidFill>
                <a:latin typeface="Segoe UI"/>
              </a:rPr>
              <a:t>“Giảng viên nhìn cả lớp im lặng và mặc định rằng mọi người vẫn đang theo kịp.”</a:t>
            </a:r>
          </a:p>
        </p:txBody>
      </p:sp>
      <p:sp>
        <p:nvSpPr>
          <p:cNvPr id="27" name="TextBox 26"/>
          <p:cNvSpPr txBox="1"/>
          <p:nvPr/>
        </p:nvSpPr>
        <p:spPr>
          <a:xfrm>
            <a:off x="7260336" y="3218688"/>
            <a:ext cx="3779215"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506680"/>
                </a:solidFill>
                <a:latin typeface="Segoe UI"/>
              </a:rPr>
              <a:t>MỨC ĐỘ HIỂU THẬT CỦA LỚP</a:t>
            </a:r>
          </a:p>
        </p:txBody>
      </p:sp>
      <p:sp>
        <p:nvSpPr>
          <p:cNvPr id="28" name="TextBox 27"/>
          <p:cNvSpPr txBox="1"/>
          <p:nvPr/>
        </p:nvSpPr>
        <p:spPr>
          <a:xfrm>
            <a:off x="7260336" y="3566160"/>
            <a:ext cx="1371600" cy="237744"/>
          </a:xfrm>
          <a:prstGeom prst="rect">
            <a:avLst/>
          </a:prstGeom>
          <a:noFill/>
        </p:spPr>
        <p:txBody>
          <a:bodyPr wrap="square" lIns="0" rIns="0" tIns="0" bIns="0" anchor="t">
            <a:spAutoFit/>
          </a:bodyPr>
          <a:lstStyle/>
          <a:p>
            <a:pPr algn="l">
              <a:lnSpc>
                <a:spcPct val="120000"/>
              </a:lnSpc>
              <a:spcBef>
                <a:spcPts val="0"/>
              </a:spcBef>
              <a:spcAft>
                <a:spcPts val="0"/>
              </a:spcAft>
            </a:pPr>
            <a:r>
              <a:rPr sz="1150" b="1">
                <a:solidFill>
                  <a:srgbClr val="0B2F55"/>
                </a:solidFill>
                <a:latin typeface="Segoe UI"/>
              </a:rPr>
              <a:t>Đã hiểu</a:t>
            </a:r>
          </a:p>
        </p:txBody>
      </p:sp>
      <p:sp>
        <p:nvSpPr>
          <p:cNvPr id="29" name="Rounded Rectangle 28"/>
          <p:cNvSpPr/>
          <p:nvPr/>
        </p:nvSpPr>
        <p:spPr>
          <a:xfrm>
            <a:off x="8595360" y="3602736"/>
            <a:ext cx="2069287"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8595360" y="3602736"/>
            <a:ext cx="1200186" cy="137160"/>
          </a:xfrm>
          <a:prstGeom prst="roundRect">
            <a:avLst>
              <a:gd name="adj" fmla="val 50000"/>
            </a:avLst>
          </a:prstGeom>
          <a:gradFill rotWithShape="1">
            <a:gsLst>
              <a:gs pos="0">
                <a:srgbClr val="0F7DF0"/>
              </a:gs>
              <a:gs pos="100000">
                <a:srgbClr val="134D8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260336" y="3986784"/>
            <a:ext cx="1371600" cy="237744"/>
          </a:xfrm>
          <a:prstGeom prst="rect">
            <a:avLst/>
          </a:prstGeom>
          <a:noFill/>
        </p:spPr>
        <p:txBody>
          <a:bodyPr wrap="square" lIns="0" rIns="0" tIns="0" bIns="0" anchor="t">
            <a:spAutoFit/>
          </a:bodyPr>
          <a:lstStyle/>
          <a:p>
            <a:pPr algn="l">
              <a:lnSpc>
                <a:spcPct val="120000"/>
              </a:lnSpc>
              <a:spcBef>
                <a:spcPts val="0"/>
              </a:spcBef>
              <a:spcAft>
                <a:spcPts val="0"/>
              </a:spcAft>
            </a:pPr>
            <a:r>
              <a:rPr sz="1150" b="1">
                <a:solidFill>
                  <a:srgbClr val="0B2F55"/>
                </a:solidFill>
                <a:latin typeface="Segoe UI"/>
              </a:rPr>
              <a:t>Hơi mơ hồ</a:t>
            </a:r>
          </a:p>
        </p:txBody>
      </p:sp>
      <p:sp>
        <p:nvSpPr>
          <p:cNvPr id="32" name="Rounded Rectangle 31"/>
          <p:cNvSpPr/>
          <p:nvPr/>
        </p:nvSpPr>
        <p:spPr>
          <a:xfrm>
            <a:off x="8595360" y="4023359"/>
            <a:ext cx="2069287"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595360" y="4023359"/>
            <a:ext cx="558707" cy="137160"/>
          </a:xfrm>
          <a:prstGeom prst="roundRect">
            <a:avLst>
              <a:gd name="adj" fmla="val 50000"/>
            </a:avLst>
          </a:prstGeom>
          <a:gradFill rotWithShape="1">
            <a:gsLst>
              <a:gs pos="0">
                <a:srgbClr val="FFBC54"/>
              </a:gs>
              <a:gs pos="100000">
                <a:srgbClr val="F59E0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260336" y="4407408"/>
            <a:ext cx="1371600" cy="237744"/>
          </a:xfrm>
          <a:prstGeom prst="rect">
            <a:avLst/>
          </a:prstGeom>
          <a:noFill/>
        </p:spPr>
        <p:txBody>
          <a:bodyPr wrap="square" lIns="0" rIns="0" tIns="0" bIns="0" anchor="t">
            <a:spAutoFit/>
          </a:bodyPr>
          <a:lstStyle/>
          <a:p>
            <a:pPr algn="l">
              <a:lnSpc>
                <a:spcPct val="120000"/>
              </a:lnSpc>
              <a:spcBef>
                <a:spcPts val="0"/>
              </a:spcBef>
              <a:spcAft>
                <a:spcPts val="0"/>
              </a:spcAft>
            </a:pPr>
            <a:r>
              <a:rPr sz="1150" b="1">
                <a:solidFill>
                  <a:srgbClr val="0B2F55"/>
                </a:solidFill>
                <a:latin typeface="Segoe UI"/>
              </a:rPr>
              <a:t>Đang bị kẹt</a:t>
            </a:r>
          </a:p>
        </p:txBody>
      </p:sp>
      <p:sp>
        <p:nvSpPr>
          <p:cNvPr id="35" name="Rounded Rectangle 34"/>
          <p:cNvSpPr/>
          <p:nvPr/>
        </p:nvSpPr>
        <p:spPr>
          <a:xfrm>
            <a:off x="8595360" y="4443983"/>
            <a:ext cx="2069287"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8595360" y="4443983"/>
            <a:ext cx="310393" cy="137160"/>
          </a:xfrm>
          <a:prstGeom prst="roundRect">
            <a:avLst>
              <a:gd name="adj" fmla="val 50000"/>
            </a:avLst>
          </a:prstGeom>
          <a:gradFill rotWithShape="1">
            <a:gsLst>
              <a:gs pos="0">
                <a:srgbClr val="FF4B51"/>
              </a:gs>
              <a:gs pos="100000">
                <a:srgbClr val="C72127"/>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260336" y="4956048"/>
            <a:ext cx="3779215" cy="731520"/>
          </a:xfrm>
          <a:prstGeom prst="rect">
            <a:avLst/>
          </a:prstGeom>
          <a:noFill/>
        </p:spPr>
        <p:txBody>
          <a:bodyPr wrap="square" lIns="0" rIns="0" tIns="0" bIns="0" anchor="t">
            <a:spAutoFit/>
          </a:bodyPr>
          <a:lstStyle/>
          <a:p>
            <a:pPr algn="l">
              <a:lnSpc>
                <a:spcPct val="135000"/>
              </a:lnSpc>
              <a:spcBef>
                <a:spcPts val="0"/>
              </a:spcBef>
              <a:spcAft>
                <a:spcPts val="0"/>
              </a:spcAft>
            </a:pPr>
            <a:r>
              <a:rPr sz="1250" b="0">
                <a:solidFill>
                  <a:srgbClr val="52657F"/>
                </a:solidFill>
                <a:latin typeface="Segoe UI"/>
              </a:rPr>
              <a:t>Nhưng trên màn hình của giảng viên: </a:t>
            </a:r>
            <a:r>
              <a:rPr sz="1250" b="1">
                <a:solidFill>
                  <a:srgbClr val="C72127"/>
                </a:solidFill>
                <a:latin typeface="Segoe UI"/>
              </a:rPr>
              <a:t>không có dữ liệu nào.</a:t>
            </a:r>
          </a:p>
        </p:txBody>
      </p:sp>
      <p:sp>
        <p:nvSpPr>
          <p:cNvPr id="38" name="Freeform 37"/>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42" name="TextBox 41"/>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02. BẰNG CHỨNG</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03</a:t>
            </a:r>
          </a:p>
        </p:txBody>
      </p:sp>
      <p:sp>
        <p:nvSpPr>
          <p:cNvPr id="7" name="TextBox 6"/>
          <p:cNvSpPr txBox="1"/>
          <p:nvPr/>
        </p:nvSpPr>
        <p:spPr>
          <a:xfrm>
            <a:off x="749808" y="1188720"/>
            <a:ext cx="5029200" cy="1051560"/>
          </a:xfrm>
          <a:prstGeom prst="rect">
            <a:avLst/>
          </a:prstGeom>
          <a:noFill/>
        </p:spPr>
        <p:txBody>
          <a:bodyPr wrap="square" lIns="0" rIns="0" tIns="0" bIns="0" anchor="t">
            <a:spAutoFit/>
          </a:bodyPr>
          <a:lstStyle/>
          <a:p>
            <a:pPr algn="l">
              <a:lnSpc>
                <a:spcPct val="108000"/>
              </a:lnSpc>
              <a:spcBef>
                <a:spcPts val="0"/>
              </a:spcBef>
              <a:spcAft>
                <a:spcPts val="0"/>
              </a:spcAft>
            </a:pPr>
            <a:r>
              <a:rPr sz="3000" b="1">
                <a:solidFill>
                  <a:srgbClr val="061B49"/>
                </a:solidFill>
                <a:latin typeface="Segoe UI"/>
              </a:rPr>
              <a:t>Khảo sát 36 sinh viên:
pain là có thật.</a:t>
            </a:r>
          </a:p>
        </p:txBody>
      </p:sp>
      <p:sp>
        <p:nvSpPr>
          <p:cNvPr id="8" name="TextBox 7"/>
          <p:cNvSpPr txBox="1"/>
          <p:nvPr/>
        </p:nvSpPr>
        <p:spPr>
          <a:xfrm>
            <a:off x="749808" y="2359152"/>
            <a:ext cx="4846320" cy="82296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Sinh viên có nhu cầu được hỗ trợ. Vấn đề là kênh hỗ trợ hiện tại không dùng được ngay trong giờ học.</a:t>
            </a:r>
          </a:p>
        </p:txBody>
      </p:sp>
      <p:sp>
        <p:nvSpPr>
          <p:cNvPr id="9" name="Rounded Rectangle 8"/>
          <p:cNvSpPr/>
          <p:nvPr/>
        </p:nvSpPr>
        <p:spPr>
          <a:xfrm>
            <a:off x="749808" y="3278124"/>
            <a:ext cx="4846320" cy="1417320"/>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3200400"/>
            <a:ext cx="4846320" cy="1417320"/>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152144" y="3438144"/>
            <a:ext cx="4023360" cy="822960"/>
          </a:xfrm>
          <a:prstGeom prst="rect">
            <a:avLst/>
          </a:prstGeom>
          <a:noFill/>
        </p:spPr>
        <p:txBody>
          <a:bodyPr wrap="square" lIns="0" rIns="0" tIns="0" bIns="0" anchor="t">
            <a:spAutoFit/>
          </a:bodyPr>
          <a:lstStyle/>
          <a:p>
            <a:pPr algn="l">
              <a:lnSpc>
                <a:spcPct val="100000"/>
              </a:lnSpc>
              <a:spcBef>
                <a:spcPts val="0"/>
              </a:spcBef>
              <a:spcAft>
                <a:spcPts val="0"/>
              </a:spcAft>
            </a:pPr>
            <a:r>
              <a:rPr sz="4200" b="1">
                <a:solidFill>
                  <a:srgbClr val="FFFFFF"/>
                </a:solidFill>
                <a:latin typeface="Segoe UI"/>
              </a:rPr>
              <a:t>88,9%</a:t>
            </a:r>
          </a:p>
        </p:txBody>
      </p:sp>
      <p:sp>
        <p:nvSpPr>
          <p:cNvPr id="12" name="TextBox 11"/>
          <p:cNvSpPr txBox="1"/>
          <p:nvPr/>
        </p:nvSpPr>
        <p:spPr>
          <a:xfrm>
            <a:off x="1152144" y="4133087"/>
            <a:ext cx="4023360" cy="32004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E2EFFF"/>
                </a:solidFill>
                <a:latin typeface="Segoe UI"/>
              </a:rPr>
              <a:t>sinh viên tự tìm đến ChatGPT khi gặp khó khăn</a:t>
            </a:r>
          </a:p>
        </p:txBody>
      </p:sp>
      <p:sp>
        <p:nvSpPr>
          <p:cNvPr id="13" name="TextBox 12"/>
          <p:cNvSpPr txBox="1"/>
          <p:nvPr/>
        </p:nvSpPr>
        <p:spPr>
          <a:xfrm>
            <a:off x="749808" y="4956048"/>
            <a:ext cx="4846320" cy="914400"/>
          </a:xfrm>
          <a:prstGeom prst="rect">
            <a:avLst/>
          </a:prstGeom>
          <a:noFill/>
        </p:spPr>
        <p:txBody>
          <a:bodyPr wrap="square" lIns="0" rIns="0" tIns="0" bIns="0" anchor="t">
            <a:spAutoFit/>
          </a:bodyPr>
          <a:lstStyle/>
          <a:p>
            <a:pPr algn="l">
              <a:lnSpc>
                <a:spcPct val="140000"/>
              </a:lnSpc>
              <a:spcBef>
                <a:spcPts val="0"/>
              </a:spcBef>
              <a:spcAft>
                <a:spcPts val="0"/>
              </a:spcAft>
            </a:pPr>
            <a:r>
              <a:rPr sz="1300" b="0">
                <a:solidFill>
                  <a:srgbClr val="52657F"/>
                </a:solidFill>
                <a:latin typeface="Segoe UI"/>
              </a:rPr>
              <a:t>Sinh viên không thiếu công cụ. Họ thiếu </a:t>
            </a:r>
            <a:r>
              <a:rPr sz="1300" b="1">
                <a:solidFill>
                  <a:srgbClr val="134D8B"/>
                </a:solidFill>
                <a:latin typeface="Segoe UI"/>
              </a:rPr>
              <a:t>một kênh an toàn ngay trong lớp</a:t>
            </a:r>
            <a:r>
              <a:rPr sz="1300" b="0">
                <a:solidFill>
                  <a:srgbClr val="52657F"/>
                </a:solidFill>
                <a:latin typeface="Segoe UI"/>
              </a:rPr>
              <a:t> để nói rằng mình chưa hiểu.</a:t>
            </a:r>
          </a:p>
        </p:txBody>
      </p:sp>
      <p:sp>
        <p:nvSpPr>
          <p:cNvPr id="14" name="Rounded Rectangle 13"/>
          <p:cNvSpPr/>
          <p:nvPr/>
        </p:nvSpPr>
        <p:spPr>
          <a:xfrm>
            <a:off x="6126480" y="1248156"/>
            <a:ext cx="5315407" cy="455371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126480" y="1170432"/>
            <a:ext cx="5315407" cy="455371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510528" y="1426464"/>
            <a:ext cx="1555087" cy="292608"/>
          </a:xfrm>
          <a:prstGeom prst="roundRect">
            <a:avLst>
              <a:gd name="adj" fmla="val 50000"/>
            </a:avLst>
          </a:prstGeom>
          <a:solidFill>
            <a:srgbClr val="FFFFFF"/>
          </a:solidFill>
          <a:ln w="12700">
            <a:solidFill>
              <a:srgbClr val="DCE9F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100" b="1">
                <a:solidFill>
                  <a:srgbClr val="134D8B"/>
                </a:solidFill>
                <a:latin typeface="Segoe UI"/>
              </a:rPr>
              <a:t>Survey snapshot</a:t>
            </a:r>
          </a:p>
        </p:txBody>
      </p:sp>
      <p:sp>
        <p:nvSpPr>
          <p:cNvPr id="17" name="Rounded Rectangle 16"/>
          <p:cNvSpPr/>
          <p:nvPr/>
        </p:nvSpPr>
        <p:spPr>
          <a:xfrm>
            <a:off x="10163251" y="1426464"/>
            <a:ext cx="894588" cy="292608"/>
          </a:xfrm>
          <a:prstGeom prst="roundRect">
            <a:avLst>
              <a:gd name="adj" fmla="val 50000"/>
            </a:avLst>
          </a:prstGeom>
          <a:gradFill rotWithShape="1">
            <a:gsLst>
              <a:gs pos="0">
                <a:srgbClr val="FF3138"/>
              </a:gs>
              <a:gs pos="100000">
                <a:srgbClr val="C7212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100" b="1">
                <a:solidFill>
                  <a:srgbClr val="FFFFFF"/>
                </a:solidFill>
                <a:latin typeface="Segoe UI"/>
              </a:rPr>
              <a:t>n = 36</a:t>
            </a:r>
          </a:p>
        </p:txBody>
      </p:sp>
      <p:sp>
        <p:nvSpPr>
          <p:cNvPr id="18" name="TextBox 17"/>
          <p:cNvSpPr txBox="1"/>
          <p:nvPr/>
        </p:nvSpPr>
        <p:spPr>
          <a:xfrm>
            <a:off x="6510528" y="2011680"/>
            <a:ext cx="3715207" cy="310896"/>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Ngại hỏi vì sợ câu hỏi quá đơn giản</a:t>
            </a:r>
          </a:p>
        </p:txBody>
      </p:sp>
      <p:sp>
        <p:nvSpPr>
          <p:cNvPr id="19" name="TextBox 18"/>
          <p:cNvSpPr txBox="1"/>
          <p:nvPr/>
        </p:nvSpPr>
        <p:spPr>
          <a:xfrm>
            <a:off x="10234879" y="1947672"/>
            <a:ext cx="822960" cy="365760"/>
          </a:xfrm>
          <a:prstGeom prst="rect">
            <a:avLst/>
          </a:prstGeom>
          <a:noFill/>
        </p:spPr>
        <p:txBody>
          <a:bodyPr wrap="square" lIns="0" rIns="0" tIns="0" bIns="0" anchor="t">
            <a:spAutoFit/>
          </a:bodyPr>
          <a:lstStyle/>
          <a:p>
            <a:pPr algn="r">
              <a:lnSpc>
                <a:spcPct val="120000"/>
              </a:lnSpc>
              <a:spcBef>
                <a:spcPts val="0"/>
              </a:spcBef>
              <a:spcAft>
                <a:spcPts val="0"/>
              </a:spcAft>
            </a:pPr>
            <a:r>
              <a:rPr sz="1900" b="1">
                <a:solidFill>
                  <a:srgbClr val="C72127"/>
                </a:solidFill>
                <a:latin typeface="Segoe UI"/>
              </a:rPr>
              <a:t>50%</a:t>
            </a:r>
          </a:p>
        </p:txBody>
      </p:sp>
      <p:sp>
        <p:nvSpPr>
          <p:cNvPr id="20" name="Rounded Rectangle 19"/>
          <p:cNvSpPr/>
          <p:nvPr/>
        </p:nvSpPr>
        <p:spPr>
          <a:xfrm>
            <a:off x="6510528" y="2377440"/>
            <a:ext cx="454731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510528" y="2377440"/>
            <a:ext cx="2273655" cy="137160"/>
          </a:xfrm>
          <a:prstGeom prst="roundRect">
            <a:avLst>
              <a:gd name="adj" fmla="val 50000"/>
            </a:avLst>
          </a:prstGeom>
          <a:gradFill rotWithShape="1">
            <a:gsLst>
              <a:gs pos="0">
                <a:srgbClr val="FF4B51"/>
              </a:gs>
              <a:gs pos="100000">
                <a:srgbClr val="C72127"/>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10528" y="2788920"/>
            <a:ext cx="3715207" cy="310896"/>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Ngại phát biểu trước lớp</a:t>
            </a:r>
          </a:p>
        </p:txBody>
      </p:sp>
      <p:sp>
        <p:nvSpPr>
          <p:cNvPr id="23" name="TextBox 22"/>
          <p:cNvSpPr txBox="1"/>
          <p:nvPr/>
        </p:nvSpPr>
        <p:spPr>
          <a:xfrm>
            <a:off x="10234879" y="2724912"/>
            <a:ext cx="822960" cy="365760"/>
          </a:xfrm>
          <a:prstGeom prst="rect">
            <a:avLst/>
          </a:prstGeom>
          <a:noFill/>
        </p:spPr>
        <p:txBody>
          <a:bodyPr wrap="square" lIns="0" rIns="0" tIns="0" bIns="0" anchor="t">
            <a:spAutoFit/>
          </a:bodyPr>
          <a:lstStyle/>
          <a:p>
            <a:pPr algn="r">
              <a:lnSpc>
                <a:spcPct val="120000"/>
              </a:lnSpc>
              <a:spcBef>
                <a:spcPts val="0"/>
              </a:spcBef>
              <a:spcAft>
                <a:spcPts val="0"/>
              </a:spcAft>
            </a:pPr>
            <a:r>
              <a:rPr sz="1900" b="1">
                <a:solidFill>
                  <a:srgbClr val="C72127"/>
                </a:solidFill>
                <a:latin typeface="Segoe UI"/>
              </a:rPr>
              <a:t>44,4%</a:t>
            </a:r>
          </a:p>
        </p:txBody>
      </p:sp>
      <p:sp>
        <p:nvSpPr>
          <p:cNvPr id="24" name="Rounded Rectangle 23"/>
          <p:cNvSpPr/>
          <p:nvPr/>
        </p:nvSpPr>
        <p:spPr>
          <a:xfrm>
            <a:off x="6510528" y="3154680"/>
            <a:ext cx="454731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510528" y="3154680"/>
            <a:ext cx="2019006" cy="137160"/>
          </a:xfrm>
          <a:prstGeom prst="roundRect">
            <a:avLst>
              <a:gd name="adj" fmla="val 50000"/>
            </a:avLst>
          </a:prstGeom>
          <a:gradFill rotWithShape="1">
            <a:gsLst>
              <a:gs pos="0">
                <a:srgbClr val="FF4B51"/>
              </a:gs>
              <a:gs pos="100000">
                <a:srgbClr val="C72127"/>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0528" y="3566160"/>
            <a:ext cx="3715207" cy="310896"/>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Không biết mô tả lỗi / vấn đề của mình</a:t>
            </a:r>
          </a:p>
        </p:txBody>
      </p:sp>
      <p:sp>
        <p:nvSpPr>
          <p:cNvPr id="27" name="TextBox 26"/>
          <p:cNvSpPr txBox="1"/>
          <p:nvPr/>
        </p:nvSpPr>
        <p:spPr>
          <a:xfrm>
            <a:off x="10234879" y="3502152"/>
            <a:ext cx="822960" cy="365760"/>
          </a:xfrm>
          <a:prstGeom prst="rect">
            <a:avLst/>
          </a:prstGeom>
          <a:noFill/>
        </p:spPr>
        <p:txBody>
          <a:bodyPr wrap="square" lIns="0" rIns="0" tIns="0" bIns="0" anchor="t">
            <a:spAutoFit/>
          </a:bodyPr>
          <a:lstStyle/>
          <a:p>
            <a:pPr algn="r">
              <a:lnSpc>
                <a:spcPct val="120000"/>
              </a:lnSpc>
              <a:spcBef>
                <a:spcPts val="0"/>
              </a:spcBef>
              <a:spcAft>
                <a:spcPts val="0"/>
              </a:spcAft>
            </a:pPr>
            <a:r>
              <a:rPr sz="1900" b="1">
                <a:solidFill>
                  <a:srgbClr val="F59E0B"/>
                </a:solidFill>
                <a:latin typeface="Segoe UI"/>
              </a:rPr>
              <a:t>41,7%</a:t>
            </a:r>
          </a:p>
        </p:txBody>
      </p:sp>
      <p:sp>
        <p:nvSpPr>
          <p:cNvPr id="28" name="Rounded Rectangle 27"/>
          <p:cNvSpPr/>
          <p:nvPr/>
        </p:nvSpPr>
        <p:spPr>
          <a:xfrm>
            <a:off x="6510528" y="3931920"/>
            <a:ext cx="454731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510528" y="3931920"/>
            <a:ext cx="1896228" cy="137160"/>
          </a:xfrm>
          <a:prstGeom prst="roundRect">
            <a:avLst>
              <a:gd name="adj" fmla="val 50000"/>
            </a:avLst>
          </a:prstGeom>
          <a:gradFill rotWithShape="1">
            <a:gsLst>
              <a:gs pos="0">
                <a:srgbClr val="FFBC54"/>
              </a:gs>
              <a:gs pos="100000">
                <a:srgbClr val="F59E0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10528" y="4343400"/>
            <a:ext cx="3715207" cy="310896"/>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Chờ trên 10 phút hoặc không được hỗ trợ phù hợp</a:t>
            </a:r>
          </a:p>
        </p:txBody>
      </p:sp>
      <p:sp>
        <p:nvSpPr>
          <p:cNvPr id="31" name="TextBox 30"/>
          <p:cNvSpPr txBox="1"/>
          <p:nvPr/>
        </p:nvSpPr>
        <p:spPr>
          <a:xfrm>
            <a:off x="10234879" y="4279392"/>
            <a:ext cx="822960" cy="365760"/>
          </a:xfrm>
          <a:prstGeom prst="rect">
            <a:avLst/>
          </a:prstGeom>
          <a:noFill/>
        </p:spPr>
        <p:txBody>
          <a:bodyPr wrap="square" lIns="0" rIns="0" tIns="0" bIns="0" anchor="t">
            <a:spAutoFit/>
          </a:bodyPr>
          <a:lstStyle/>
          <a:p>
            <a:pPr algn="r">
              <a:lnSpc>
                <a:spcPct val="120000"/>
              </a:lnSpc>
              <a:spcBef>
                <a:spcPts val="0"/>
              </a:spcBef>
              <a:spcAft>
                <a:spcPts val="0"/>
              </a:spcAft>
            </a:pPr>
            <a:r>
              <a:rPr sz="1900" b="1">
                <a:solidFill>
                  <a:srgbClr val="C72127"/>
                </a:solidFill>
                <a:latin typeface="Segoe UI"/>
              </a:rPr>
              <a:t>55,6%</a:t>
            </a:r>
          </a:p>
        </p:txBody>
      </p:sp>
      <p:sp>
        <p:nvSpPr>
          <p:cNvPr id="32" name="Rounded Rectangle 31"/>
          <p:cNvSpPr/>
          <p:nvPr/>
        </p:nvSpPr>
        <p:spPr>
          <a:xfrm>
            <a:off x="6510528" y="4709160"/>
            <a:ext cx="454731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510528" y="4709160"/>
            <a:ext cx="2528305" cy="137160"/>
          </a:xfrm>
          <a:prstGeom prst="roundRect">
            <a:avLst>
              <a:gd name="adj" fmla="val 50000"/>
            </a:avLst>
          </a:prstGeom>
          <a:gradFill rotWithShape="1">
            <a:gsLst>
              <a:gs pos="0">
                <a:srgbClr val="FF4B51"/>
              </a:gs>
              <a:gs pos="100000">
                <a:srgbClr val="C72127"/>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10528" y="5138927"/>
            <a:ext cx="4547311" cy="731520"/>
          </a:xfrm>
          <a:prstGeom prst="rect">
            <a:avLst/>
          </a:prstGeom>
          <a:noFill/>
        </p:spPr>
        <p:txBody>
          <a:bodyPr wrap="square" lIns="0" rIns="0" tIns="0" bIns="0" anchor="t">
            <a:spAutoFit/>
          </a:bodyPr>
          <a:lstStyle/>
          <a:p>
            <a:pPr algn="l">
              <a:lnSpc>
                <a:spcPct val="140000"/>
              </a:lnSpc>
              <a:spcBef>
                <a:spcPts val="0"/>
              </a:spcBef>
              <a:spcAft>
                <a:spcPts val="0"/>
              </a:spcAft>
            </a:pPr>
            <a:r>
              <a:rPr sz="1200" b="0">
                <a:solidFill>
                  <a:srgbClr val="52657F"/>
                </a:solidFill>
                <a:latin typeface="Segoe UI"/>
              </a:rPr>
              <a:t>Vấn đề không phải sinh viên không cần giúp đỡ — mà là khoảng trống giữa lúc họ bắt đầu không hiểu và lúc giảng viên nhận ra.</a:t>
            </a:r>
          </a:p>
        </p:txBody>
      </p:sp>
      <p:sp>
        <p:nvSpPr>
          <p:cNvPr id="35" name="Freeform 34"/>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39" name="TextBox 38"/>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03. BỐI CẢNH LMS</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04</a:t>
            </a:r>
          </a:p>
        </p:txBody>
      </p:sp>
      <p:sp>
        <p:nvSpPr>
          <p:cNvPr id="7" name="TextBox 6"/>
          <p:cNvSpPr txBox="1"/>
          <p:nvPr/>
        </p:nvSpPr>
        <p:spPr>
          <a:xfrm>
            <a:off x="749808" y="1188720"/>
            <a:ext cx="10607040" cy="566928"/>
          </a:xfrm>
          <a:prstGeom prst="rect">
            <a:avLst/>
          </a:prstGeom>
          <a:noFill/>
        </p:spPr>
        <p:txBody>
          <a:bodyPr wrap="square" lIns="0" rIns="0" tIns="0" bIns="0" anchor="t">
            <a:spAutoFit/>
          </a:bodyPr>
          <a:lstStyle/>
          <a:p>
            <a:pPr algn="l">
              <a:lnSpc>
                <a:spcPct val="108000"/>
              </a:lnSpc>
              <a:spcBef>
                <a:spcPts val="0"/>
              </a:spcBef>
              <a:spcAft>
                <a:spcPts val="0"/>
              </a:spcAft>
            </a:pPr>
            <a:r>
              <a:rPr sz="3000" b="1">
                <a:solidFill>
                  <a:srgbClr val="061B49"/>
                </a:solidFill>
                <a:latin typeface="Segoe UI"/>
              </a:rPr>
              <a:t>LMS hiện tại gần như chỉ là nơi mở và đọc PDF.</a:t>
            </a:r>
          </a:p>
        </p:txBody>
      </p:sp>
      <p:sp>
        <p:nvSpPr>
          <p:cNvPr id="8" name="TextBox 7"/>
          <p:cNvSpPr txBox="1"/>
          <p:nvPr/>
        </p:nvSpPr>
        <p:spPr>
          <a:xfrm>
            <a:off x="749808" y="1847088"/>
            <a:ext cx="9509760" cy="50292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Giảng viên thậm chí không dùng nền tảng khi dạy — họ mở file trực tiếp từ máy tính và trình chiếu như bình thường.</a:t>
            </a:r>
          </a:p>
        </p:txBody>
      </p:sp>
      <p:sp>
        <p:nvSpPr>
          <p:cNvPr id="9" name="Rounded Rectangle 8"/>
          <p:cNvSpPr/>
          <p:nvPr/>
        </p:nvSpPr>
        <p:spPr>
          <a:xfrm>
            <a:off x="749808" y="2775204"/>
            <a:ext cx="3411626"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2697480"/>
            <a:ext cx="3411626"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1005840" y="2980944"/>
            <a:ext cx="402336" cy="402336"/>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1005840" y="2935224"/>
            <a:ext cx="402336" cy="402336"/>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000" b="1">
                <a:solidFill>
                  <a:srgbClr val="134D8B"/>
                </a:solidFill>
                <a:latin typeface="Segoe UI"/>
              </a:rPr>
              <a:t>PDF</a:t>
            </a:r>
          </a:p>
        </p:txBody>
      </p:sp>
      <p:sp>
        <p:nvSpPr>
          <p:cNvPr id="13" name="TextBox 12"/>
          <p:cNvSpPr txBox="1"/>
          <p:nvPr/>
        </p:nvSpPr>
        <p:spPr>
          <a:xfrm>
            <a:off x="1005840" y="3483864"/>
            <a:ext cx="2899562" cy="996695"/>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0B2F55"/>
                </a:solidFill>
                <a:latin typeface="Segoe UI"/>
              </a:rPr>
              <a:t>Chỉ là kho tài liệu</a:t>
            </a:r>
          </a:p>
          <a:p>
            <a:pPr algn="l">
              <a:lnSpc>
                <a:spcPct val="132000"/>
              </a:lnSpc>
              <a:spcBef>
                <a:spcPts val="700"/>
              </a:spcBef>
              <a:spcAft>
                <a:spcPts val="0"/>
              </a:spcAft>
            </a:pPr>
            <a:r>
              <a:rPr sz="1250" b="0">
                <a:solidFill>
                  <a:srgbClr val="52657F"/>
                </a:solidFill>
                <a:latin typeface="Segoe UI"/>
              </a:rPr>
              <a:t>Sinh viên vào LMS để tải và đọc file, không có tương tác nào diễn ra.</a:t>
            </a:r>
          </a:p>
        </p:txBody>
      </p:sp>
      <p:sp>
        <p:nvSpPr>
          <p:cNvPr id="14" name="Rounded Rectangle 13"/>
          <p:cNvSpPr/>
          <p:nvPr/>
        </p:nvSpPr>
        <p:spPr>
          <a:xfrm>
            <a:off x="4390034" y="2775204"/>
            <a:ext cx="3411626"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390034" y="2697480"/>
            <a:ext cx="3411626"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4646066" y="2980944"/>
            <a:ext cx="402336" cy="402336"/>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646066" y="2935224"/>
            <a:ext cx="402336" cy="402336"/>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500" b="1">
                <a:solidFill>
                  <a:srgbClr val="134D8B"/>
                </a:solidFill>
                <a:latin typeface="Segoe UI"/>
              </a:rPr>
              <a:t>×</a:t>
            </a:r>
          </a:p>
        </p:txBody>
      </p:sp>
      <p:sp>
        <p:nvSpPr>
          <p:cNvPr id="18" name="TextBox 17"/>
          <p:cNvSpPr txBox="1"/>
          <p:nvPr/>
        </p:nvSpPr>
        <p:spPr>
          <a:xfrm>
            <a:off x="4646066" y="3483864"/>
            <a:ext cx="2899562" cy="996695"/>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0B2F55"/>
                </a:solidFill>
                <a:latin typeface="Segoe UI"/>
              </a:rPr>
              <a:t>Giảng viên không dùng khi dạy</a:t>
            </a:r>
          </a:p>
          <a:p>
            <a:pPr algn="l">
              <a:lnSpc>
                <a:spcPct val="132000"/>
              </a:lnSpc>
              <a:spcBef>
                <a:spcPts val="700"/>
              </a:spcBef>
              <a:spcAft>
                <a:spcPts val="0"/>
              </a:spcAft>
            </a:pPr>
            <a:r>
              <a:rPr sz="1250" b="0">
                <a:solidFill>
                  <a:srgbClr val="52657F"/>
                </a:solidFill>
                <a:latin typeface="Segoe UI"/>
              </a:rPr>
              <a:t>Quy trình giảng dạy thật đang diễn ra hoàn toàn bên ngoài LMS.</a:t>
            </a:r>
          </a:p>
        </p:txBody>
      </p:sp>
      <p:sp>
        <p:nvSpPr>
          <p:cNvPr id="19" name="Rounded Rectangle 18"/>
          <p:cNvSpPr/>
          <p:nvPr/>
        </p:nvSpPr>
        <p:spPr>
          <a:xfrm>
            <a:off x="8030260" y="2775204"/>
            <a:ext cx="3411626"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030260" y="2697480"/>
            <a:ext cx="3411626"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286292" y="2980944"/>
            <a:ext cx="402336" cy="402336"/>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286292" y="2935224"/>
            <a:ext cx="402336" cy="402336"/>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500" b="1">
                <a:solidFill>
                  <a:srgbClr val="134D8B"/>
                </a:solidFill>
                <a:latin typeface="Segoe UI"/>
              </a:rPr>
              <a:t>↺</a:t>
            </a:r>
          </a:p>
        </p:txBody>
      </p:sp>
      <p:sp>
        <p:nvSpPr>
          <p:cNvPr id="23" name="TextBox 22"/>
          <p:cNvSpPr txBox="1"/>
          <p:nvPr/>
        </p:nvSpPr>
        <p:spPr>
          <a:xfrm>
            <a:off x="8286292" y="3483864"/>
            <a:ext cx="2899562" cy="996695"/>
          </a:xfrm>
          <a:prstGeom prst="rect">
            <a:avLst/>
          </a:prstGeom>
          <a:noFill/>
        </p:spPr>
        <p:txBody>
          <a:bodyPr wrap="square" lIns="0" rIns="0" tIns="0" bIns="0" anchor="t">
            <a:spAutoFit/>
          </a:bodyPr>
          <a:lstStyle/>
          <a:p>
            <a:pPr algn="l">
              <a:lnSpc>
                <a:spcPct val="115000"/>
              </a:lnSpc>
              <a:spcBef>
                <a:spcPts val="0"/>
              </a:spcBef>
              <a:spcAft>
                <a:spcPts val="0"/>
              </a:spcAft>
            </a:pPr>
            <a:r>
              <a:rPr sz="1500" b="1">
                <a:solidFill>
                  <a:srgbClr val="0B2F55"/>
                </a:solidFill>
                <a:latin typeface="Segoe UI"/>
              </a:rPr>
              <a:t>Không có vòng phản hồi</a:t>
            </a:r>
          </a:p>
          <a:p>
            <a:pPr algn="l">
              <a:lnSpc>
                <a:spcPct val="132000"/>
              </a:lnSpc>
              <a:spcBef>
                <a:spcPts val="700"/>
              </a:spcBef>
              <a:spcAft>
                <a:spcPts val="0"/>
              </a:spcAft>
            </a:pPr>
            <a:r>
              <a:rPr sz="1250" b="0">
                <a:solidFill>
                  <a:srgbClr val="52657F"/>
                </a:solidFill>
                <a:latin typeface="Segoe UI"/>
              </a:rPr>
              <a:t>Không ai biết lớp đang hiểu tới đâu tại chính thời điểm này.</a:t>
            </a:r>
          </a:p>
        </p:txBody>
      </p:sp>
      <p:sp>
        <p:nvSpPr>
          <p:cNvPr id="24" name="Rounded Rectangle 23"/>
          <p:cNvSpPr/>
          <p:nvPr/>
        </p:nvSpPr>
        <p:spPr>
          <a:xfrm>
            <a:off x="749808" y="5015484"/>
            <a:ext cx="10692079" cy="1060704"/>
          </a:xfrm>
          <a:prstGeom prst="roundRect">
            <a:avLst>
              <a:gd name="adj" fmla="val 11000"/>
            </a:avLst>
          </a:prstGeom>
          <a:solidFill>
            <a:srgbClr val="8C11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749808" y="4937760"/>
            <a:ext cx="10692079" cy="1060704"/>
          </a:xfrm>
          <a:prstGeom prst="roundRect">
            <a:avLst>
              <a:gd name="adj" fmla="val 11000"/>
            </a:avLst>
          </a:prstGeom>
          <a:gradFill rotWithShape="1">
            <a:gsLst>
              <a:gs pos="0">
                <a:srgbClr val="FF393F"/>
              </a:gs>
              <a:gs pos="100000">
                <a:srgbClr val="84101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207007" y="5138928"/>
            <a:ext cx="9777679" cy="731520"/>
          </a:xfrm>
          <a:prstGeom prst="rect">
            <a:avLst/>
          </a:prstGeom>
          <a:noFill/>
        </p:spPr>
        <p:txBody>
          <a:bodyPr wrap="square" lIns="0" rIns="0" tIns="0" bIns="0" anchor="t">
            <a:spAutoFit/>
          </a:bodyPr>
          <a:lstStyle/>
          <a:p>
            <a:pPr algn="l">
              <a:lnSpc>
                <a:spcPct val="132000"/>
              </a:lnSpc>
              <a:spcBef>
                <a:spcPts val="0"/>
              </a:spcBef>
              <a:spcAft>
                <a:spcPts val="0"/>
              </a:spcAft>
            </a:pPr>
            <a:r>
              <a:rPr sz="1450" b="1">
                <a:solidFill>
                  <a:srgbClr val="FFFFFF"/>
                </a:solidFill>
                <a:latin typeface="Segoe UI"/>
              </a:rPr>
              <a:t>Vì vậy: không thay toàn bộ LMS, không bắt giảng viên đổi quy trình — chỉ tích hợp thêm một lớp tương tác vào đúng màn hình học liệu hiện có.</a:t>
            </a:r>
          </a:p>
        </p:txBody>
      </p:sp>
      <p:sp>
        <p:nvSpPr>
          <p:cNvPr id="27" name="Freeform 26"/>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31" name="TextBox 30"/>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Positioning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04. GIẢI PHÁP</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05</a:t>
            </a:r>
          </a:p>
        </p:txBody>
      </p:sp>
      <p:sp>
        <p:nvSpPr>
          <p:cNvPr id="7" name="TextBox 6"/>
          <p:cNvSpPr txBox="1"/>
          <p:nvPr/>
        </p:nvSpPr>
        <p:spPr>
          <a:xfrm>
            <a:off x="749808" y="1280160"/>
            <a:ext cx="5303520" cy="1554480"/>
          </a:xfrm>
          <a:prstGeom prst="rect">
            <a:avLst/>
          </a:prstGeom>
          <a:noFill/>
        </p:spPr>
        <p:txBody>
          <a:bodyPr wrap="square" lIns="0" rIns="0" tIns="0" bIns="0" anchor="t">
            <a:spAutoFit/>
          </a:bodyPr>
          <a:lstStyle/>
          <a:p>
            <a:pPr algn="l">
              <a:lnSpc>
                <a:spcPct val="108000"/>
              </a:lnSpc>
              <a:spcBef>
                <a:spcPts val="0"/>
              </a:spcBef>
              <a:spcAft>
                <a:spcPts val="0"/>
              </a:spcAft>
            </a:pPr>
            <a:r>
              <a:rPr sz="3800" b="1">
                <a:solidFill>
                  <a:srgbClr val="061B49"/>
                </a:solidFill>
                <a:latin typeface="Segoe UI"/>
              </a:rPr>
              <a:t>VLearn
Interaction Layer</a:t>
            </a:r>
          </a:p>
        </p:txBody>
      </p:sp>
      <p:sp>
        <p:nvSpPr>
          <p:cNvPr id="8" name="TextBox 7"/>
          <p:cNvSpPr txBox="1"/>
          <p:nvPr/>
        </p:nvSpPr>
        <p:spPr>
          <a:xfrm>
            <a:off x="749808" y="2971800"/>
            <a:ext cx="5029200" cy="914400"/>
          </a:xfrm>
          <a:prstGeom prst="rect">
            <a:avLst/>
          </a:prstGeom>
          <a:noFill/>
        </p:spPr>
        <p:txBody>
          <a:bodyPr wrap="square" lIns="0" rIns="0" tIns="0" bIns="0" anchor="t">
            <a:spAutoFit/>
          </a:bodyPr>
          <a:lstStyle/>
          <a:p>
            <a:pPr algn="l">
              <a:lnSpc>
                <a:spcPct val="142000"/>
              </a:lnSpc>
              <a:spcBef>
                <a:spcPts val="0"/>
              </a:spcBef>
              <a:spcAft>
                <a:spcPts val="0"/>
              </a:spcAft>
            </a:pPr>
            <a:r>
              <a:rPr sz="1400" b="1">
                <a:solidFill>
                  <a:srgbClr val="52657F"/>
                </a:solidFill>
                <a:latin typeface="Segoe UI"/>
              </a:rPr>
              <a:t>Một lớp tương tác hai chiều giữa sinh viên và giảng viên, hoạt động song song với file PDF đang trình chiếu.</a:t>
            </a:r>
          </a:p>
        </p:txBody>
      </p:sp>
      <p:sp>
        <p:nvSpPr>
          <p:cNvPr id="9" name="Rounded Rectangle 8"/>
          <p:cNvSpPr/>
          <p:nvPr/>
        </p:nvSpPr>
        <p:spPr>
          <a:xfrm>
            <a:off x="749808" y="4133088"/>
            <a:ext cx="3455416" cy="438912"/>
          </a:xfrm>
          <a:prstGeom prst="roundRect">
            <a:avLst>
              <a:gd name="adj" fmla="val 28000"/>
            </a:avLst>
          </a:prstGeom>
          <a:solidFill>
            <a:srgbClr val="0837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4069080"/>
            <a:ext cx="3455416" cy="438912"/>
          </a:xfrm>
          <a:prstGeom prst="roundRect">
            <a:avLst>
              <a:gd name="adj" fmla="val 28000"/>
            </a:avLst>
          </a:prstGeom>
          <a:gradFill rotWithShape="1">
            <a:gsLst>
              <a:gs pos="0">
                <a:srgbClr val="2386FF"/>
              </a:gs>
              <a:gs pos="100000">
                <a:srgbClr val="134D8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300" b="1">
                <a:solidFill>
                  <a:srgbClr val="FFFFFF"/>
                </a:solidFill>
                <a:latin typeface="Segoe UI"/>
              </a:rPr>
              <a:t>Hoạt động ngay trên học liệu hiện có</a:t>
            </a:r>
          </a:p>
        </p:txBody>
      </p:sp>
      <p:sp>
        <p:nvSpPr>
          <p:cNvPr id="11" name="Rounded Rectangle 10"/>
          <p:cNvSpPr/>
          <p:nvPr/>
        </p:nvSpPr>
        <p:spPr>
          <a:xfrm>
            <a:off x="6035040" y="1248156"/>
            <a:ext cx="5406847" cy="2395728"/>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035040" y="1170432"/>
            <a:ext cx="5406847" cy="2395728"/>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19088" y="1408176"/>
            <a:ext cx="4638751"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134D8B"/>
                </a:solidFill>
                <a:latin typeface="Segoe UI"/>
              </a:rPr>
              <a:t>PHÍA SINH VIÊN</a:t>
            </a:r>
          </a:p>
        </p:txBody>
      </p:sp>
      <p:sp>
        <p:nvSpPr>
          <p:cNvPr id="14" name="Oval 13"/>
          <p:cNvSpPr/>
          <p:nvPr/>
        </p:nvSpPr>
        <p:spPr>
          <a:xfrm>
            <a:off x="6437376" y="1856231"/>
            <a:ext cx="109728" cy="109728"/>
          </a:xfrm>
          <a:prstGeom prst="ellipse">
            <a:avLst/>
          </a:prstGeom>
          <a:solidFill>
            <a:srgbClr val="2B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792224"/>
            <a:ext cx="435528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Phản hồi mức độ hiểu bằng một thao tác</a:t>
            </a:r>
          </a:p>
        </p:txBody>
      </p:sp>
      <p:sp>
        <p:nvSpPr>
          <p:cNvPr id="16" name="Oval 15"/>
          <p:cNvSpPr/>
          <p:nvPr/>
        </p:nvSpPr>
        <p:spPr>
          <a:xfrm>
            <a:off x="6437376" y="2194560"/>
            <a:ext cx="109728" cy="109728"/>
          </a:xfrm>
          <a:prstGeom prst="ellipse">
            <a:avLst/>
          </a:prstGeom>
          <a:solidFill>
            <a:srgbClr val="2B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2130552"/>
            <a:ext cx="435528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Tham gia quiz hoặc poll nhanh</a:t>
            </a:r>
          </a:p>
        </p:txBody>
      </p:sp>
      <p:sp>
        <p:nvSpPr>
          <p:cNvPr id="18" name="Oval 17"/>
          <p:cNvSpPr/>
          <p:nvPr/>
        </p:nvSpPr>
        <p:spPr>
          <a:xfrm>
            <a:off x="6437376" y="2532888"/>
            <a:ext cx="109728" cy="109728"/>
          </a:xfrm>
          <a:prstGeom prst="ellipse">
            <a:avLst/>
          </a:prstGeom>
          <a:solidFill>
            <a:srgbClr val="2B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2468880"/>
            <a:ext cx="435528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Xem nội dung cả lớp đang thấy khó</a:t>
            </a:r>
          </a:p>
        </p:txBody>
      </p:sp>
      <p:sp>
        <p:nvSpPr>
          <p:cNvPr id="20" name="Oval 19"/>
          <p:cNvSpPr/>
          <p:nvPr/>
        </p:nvSpPr>
        <p:spPr>
          <a:xfrm>
            <a:off x="6437376" y="2871216"/>
            <a:ext cx="109728" cy="109728"/>
          </a:xfrm>
          <a:prstGeom prst="ellipse">
            <a:avLst/>
          </a:prstGeom>
          <a:solidFill>
            <a:srgbClr val="2B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2807208"/>
            <a:ext cx="435528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Đặt câu hỏi riêng cho trợ giảng</a:t>
            </a:r>
          </a:p>
        </p:txBody>
      </p:sp>
      <p:sp>
        <p:nvSpPr>
          <p:cNvPr id="22" name="Oval 21"/>
          <p:cNvSpPr/>
          <p:nvPr/>
        </p:nvSpPr>
        <p:spPr>
          <a:xfrm>
            <a:off x="6437376" y="3209544"/>
            <a:ext cx="109728" cy="109728"/>
          </a:xfrm>
          <a:prstGeom prst="ellipse">
            <a:avLst/>
          </a:prstGeom>
          <a:solidFill>
            <a:srgbClr val="2B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3145536"/>
            <a:ext cx="435528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Bấm “Tôi cũng chưa hiểu” với câu hỏi đã có</a:t>
            </a:r>
          </a:p>
        </p:txBody>
      </p:sp>
      <p:sp>
        <p:nvSpPr>
          <p:cNvPr id="24" name="Rounded Rectangle 23"/>
          <p:cNvSpPr/>
          <p:nvPr/>
        </p:nvSpPr>
        <p:spPr>
          <a:xfrm>
            <a:off x="6035040" y="3936491"/>
            <a:ext cx="5406847" cy="1874519"/>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035040" y="3858768"/>
            <a:ext cx="5406847" cy="1874519"/>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19088" y="4096511"/>
            <a:ext cx="4638751"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9ECBFF"/>
                </a:solidFill>
                <a:latin typeface="Segoe UI"/>
              </a:rPr>
              <a:t>PHÍA GIẢNG VIÊN</a:t>
            </a:r>
          </a:p>
        </p:txBody>
      </p:sp>
      <p:sp>
        <p:nvSpPr>
          <p:cNvPr id="27" name="TextBox 26"/>
          <p:cNvSpPr txBox="1"/>
          <p:nvPr/>
        </p:nvSpPr>
        <p:spPr>
          <a:xfrm>
            <a:off x="6419088" y="4425696"/>
            <a:ext cx="4638751" cy="365760"/>
          </a:xfrm>
          <a:prstGeom prst="rect">
            <a:avLst/>
          </a:prstGeom>
          <a:noFill/>
        </p:spPr>
        <p:txBody>
          <a:bodyPr wrap="square" lIns="0" rIns="0" tIns="0" bIns="0" anchor="t">
            <a:spAutoFit/>
          </a:bodyPr>
          <a:lstStyle/>
          <a:p>
            <a:pPr algn="l">
              <a:lnSpc>
                <a:spcPct val="120000"/>
              </a:lnSpc>
              <a:spcBef>
                <a:spcPts val="0"/>
              </a:spcBef>
              <a:spcAft>
                <a:spcPts val="0"/>
              </a:spcAft>
            </a:pPr>
            <a:r>
              <a:rPr sz="2000" b="1">
                <a:solidFill>
                  <a:srgbClr val="FFFFFF"/>
                </a:solidFill>
                <a:latin typeface="Segoe UI"/>
              </a:rPr>
              <a:t>Interaction Console</a:t>
            </a:r>
          </a:p>
        </p:txBody>
      </p:sp>
      <p:sp>
        <p:nvSpPr>
          <p:cNvPr id="28" name="TextBox 27"/>
          <p:cNvSpPr txBox="1"/>
          <p:nvPr/>
        </p:nvSpPr>
        <p:spPr>
          <a:xfrm>
            <a:off x="6419088" y="4864608"/>
            <a:ext cx="4638751" cy="777240"/>
          </a:xfrm>
          <a:prstGeom prst="rect">
            <a:avLst/>
          </a:prstGeom>
          <a:noFill/>
        </p:spPr>
        <p:txBody>
          <a:bodyPr wrap="square" lIns="0" rIns="0" tIns="0" bIns="0" anchor="t">
            <a:spAutoFit/>
          </a:bodyPr>
          <a:lstStyle/>
          <a:p>
            <a:pPr algn="l">
              <a:lnSpc>
                <a:spcPct val="135000"/>
              </a:lnSpc>
              <a:spcBef>
                <a:spcPts val="0"/>
              </a:spcBef>
              <a:spcAft>
                <a:spcPts val="0"/>
              </a:spcAft>
            </a:pPr>
            <a:r>
              <a:rPr sz="1200" b="0">
                <a:solidFill>
                  <a:srgbClr val="E2EFFF"/>
                </a:solidFill>
                <a:latin typeface="Segoe UI"/>
              </a:rPr>
              <a:t>Vẫn mở PDF trực tiếp từ máy như trước. Bên cạnh bài giảng là bảng điều khiển cho thấy trạng thái thực của lớp.</a:t>
            </a:r>
          </a:p>
        </p:txBody>
      </p:sp>
      <p:sp>
        <p:nvSpPr>
          <p:cNvPr id="29" name="Freeform 28"/>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33" name="TextBox 32"/>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Solution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05. DEMO · BƯỚC 1</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06</a:t>
            </a:r>
          </a:p>
        </p:txBody>
      </p:sp>
      <p:sp>
        <p:nvSpPr>
          <p:cNvPr id="7" name="TextBox 6"/>
          <p:cNvSpPr txBox="1"/>
          <p:nvPr/>
        </p:nvSpPr>
        <p:spPr>
          <a:xfrm>
            <a:off x="749808" y="1188720"/>
            <a:ext cx="5394960" cy="1508760"/>
          </a:xfrm>
          <a:prstGeom prst="rect">
            <a:avLst/>
          </a:prstGeom>
          <a:noFill/>
        </p:spPr>
        <p:txBody>
          <a:bodyPr wrap="square" lIns="0" rIns="0" tIns="0" bIns="0" anchor="t">
            <a:spAutoFit/>
          </a:bodyPr>
          <a:lstStyle/>
          <a:p>
            <a:pPr algn="l">
              <a:lnSpc>
                <a:spcPct val="108000"/>
              </a:lnSpc>
              <a:spcBef>
                <a:spcPts val="0"/>
              </a:spcBef>
              <a:spcAft>
                <a:spcPts val="0"/>
              </a:spcAft>
            </a:pPr>
            <a:r>
              <a:rPr sz="3000" b="1">
                <a:solidFill>
                  <a:srgbClr val="061B49"/>
                </a:solidFill>
                <a:latin typeface="Segoe UI"/>
              </a:rPr>
              <a:t>Learning Pulse:
một thao tác,
cả lớp lên tiếng.</a:t>
            </a:r>
          </a:p>
        </p:txBody>
      </p:sp>
      <p:sp>
        <p:nvSpPr>
          <p:cNvPr id="8" name="TextBox 7"/>
          <p:cNvSpPr txBox="1"/>
          <p:nvPr/>
        </p:nvSpPr>
        <p:spPr>
          <a:xfrm>
            <a:off x="749808" y="2816352"/>
            <a:ext cx="5257800" cy="82296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Sau khi giảng một phần, giảng viên bấm “Gửi Learning Pulse”. Sinh viên nhận ba lựa chọn ngay trong panel bên cạnh PDF.</a:t>
            </a:r>
          </a:p>
        </p:txBody>
      </p:sp>
      <p:sp>
        <p:nvSpPr>
          <p:cNvPr id="9" name="Rounded Rectangle 8"/>
          <p:cNvSpPr/>
          <p:nvPr/>
        </p:nvSpPr>
        <p:spPr>
          <a:xfrm>
            <a:off x="749808" y="3643884"/>
            <a:ext cx="1642872" cy="749808"/>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3566160"/>
            <a:ext cx="1642872" cy="749808"/>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Đã hiểu</a:t>
            </a:r>
          </a:p>
        </p:txBody>
      </p:sp>
      <p:sp>
        <p:nvSpPr>
          <p:cNvPr id="11" name="Rounded Rectangle 10"/>
          <p:cNvSpPr/>
          <p:nvPr/>
        </p:nvSpPr>
        <p:spPr>
          <a:xfrm>
            <a:off x="2557272" y="3643884"/>
            <a:ext cx="1642872" cy="749808"/>
          </a:xfrm>
          <a:prstGeom prst="roundRect">
            <a:avLst>
              <a:gd name="adj" fmla="val 11000"/>
            </a:avLst>
          </a:prstGeom>
          <a:solidFill>
            <a:srgbClr val="B36A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557272" y="3566160"/>
            <a:ext cx="1642872" cy="749808"/>
          </a:xfrm>
          <a:prstGeom prst="roundRect">
            <a:avLst>
              <a:gd name="adj" fmla="val 11000"/>
            </a:avLst>
          </a:prstGeom>
          <a:gradFill rotWithShape="1">
            <a:gsLst>
              <a:gs pos="0">
                <a:srgbClr val="FFB13B"/>
              </a:gs>
              <a:gs pos="100000">
                <a:srgbClr val="C26F03"/>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Hơi mơ hồ</a:t>
            </a:r>
          </a:p>
        </p:txBody>
      </p:sp>
      <p:sp>
        <p:nvSpPr>
          <p:cNvPr id="13" name="Rounded Rectangle 12"/>
          <p:cNvSpPr/>
          <p:nvPr/>
        </p:nvSpPr>
        <p:spPr>
          <a:xfrm>
            <a:off x="4364736" y="3643884"/>
            <a:ext cx="1642872" cy="749808"/>
          </a:xfrm>
          <a:prstGeom prst="roundRect">
            <a:avLst>
              <a:gd name="adj" fmla="val 11000"/>
            </a:avLst>
          </a:prstGeom>
          <a:solidFill>
            <a:srgbClr val="8C11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64736" y="3566160"/>
            <a:ext cx="1642872" cy="749808"/>
          </a:xfrm>
          <a:prstGeom prst="roundRect">
            <a:avLst>
              <a:gd name="adj" fmla="val 11000"/>
            </a:avLst>
          </a:prstGeom>
          <a:gradFill rotWithShape="1">
            <a:gsLst>
              <a:gs pos="0">
                <a:srgbClr val="FF393F"/>
              </a:gs>
              <a:gs pos="100000">
                <a:srgbClr val="84101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Đang bị kẹt</a:t>
            </a:r>
          </a:p>
        </p:txBody>
      </p:sp>
      <p:sp>
        <p:nvSpPr>
          <p:cNvPr id="15" name="TextBox 14"/>
          <p:cNvSpPr txBox="1"/>
          <p:nvPr/>
        </p:nvSpPr>
        <p:spPr>
          <a:xfrm>
            <a:off x="749808" y="4663440"/>
            <a:ext cx="5257800" cy="1097280"/>
          </a:xfrm>
          <a:prstGeom prst="rect">
            <a:avLst/>
          </a:prstGeom>
          <a:noFill/>
        </p:spPr>
        <p:txBody>
          <a:bodyPr wrap="square" lIns="0" rIns="0" tIns="0" bIns="0" anchor="t">
            <a:spAutoFit/>
          </a:bodyPr>
          <a:lstStyle/>
          <a:p>
            <a:pPr algn="l">
              <a:lnSpc>
                <a:spcPct val="142000"/>
              </a:lnSpc>
              <a:spcBef>
                <a:spcPts val="0"/>
              </a:spcBef>
              <a:spcAft>
                <a:spcPts val="0"/>
              </a:spcAft>
            </a:pPr>
            <a:r>
              <a:rPr sz="1300" b="0">
                <a:solidFill>
                  <a:srgbClr val="52657F"/>
                </a:solidFill>
                <a:latin typeface="Segoe UI"/>
              </a:rPr>
              <a:t>Thay vì tiếp tục giảng theo cảm tính, hệ thống đề xuất giảng viên </a:t>
            </a:r>
            <a:r>
              <a:rPr sz="1300" b="1">
                <a:solidFill>
                  <a:srgbClr val="134D8B"/>
                </a:solidFill>
                <a:latin typeface="Segoe UI"/>
              </a:rPr>
              <a:t>dừng lại và gửi một poll kiểm tra nhanh</a:t>
            </a:r>
            <a:r>
              <a:rPr sz="1300" b="0">
                <a:solidFill>
                  <a:srgbClr val="52657F"/>
                </a:solidFill>
                <a:latin typeface="Segoe UI"/>
              </a:rPr>
              <a:t> — sinh viên trả lời ngay trong panel.</a:t>
            </a:r>
          </a:p>
        </p:txBody>
      </p:sp>
      <p:sp>
        <p:nvSpPr>
          <p:cNvPr id="16" name="Rounded Rectangle 15"/>
          <p:cNvSpPr/>
          <p:nvPr/>
        </p:nvSpPr>
        <p:spPr>
          <a:xfrm>
            <a:off x="6675120" y="1248156"/>
            <a:ext cx="4766767" cy="455371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675120" y="1170432"/>
            <a:ext cx="4766767" cy="455371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059168" y="1426464"/>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0B2F55"/>
                </a:solidFill>
                <a:latin typeface="Segoe UI"/>
              </a:rPr>
              <a:t>Kết quả Pulse</a:t>
            </a:r>
          </a:p>
        </p:txBody>
      </p:sp>
      <p:sp>
        <p:nvSpPr>
          <p:cNvPr id="19" name="Rounded Rectangle 18"/>
          <p:cNvSpPr/>
          <p:nvPr/>
        </p:nvSpPr>
        <p:spPr>
          <a:xfrm>
            <a:off x="9477451" y="1426464"/>
            <a:ext cx="1580388" cy="292608"/>
          </a:xfrm>
          <a:prstGeom prst="roundRect">
            <a:avLst>
              <a:gd name="adj" fmla="val 50000"/>
            </a:avLst>
          </a:prstGeom>
          <a:gradFill rotWithShape="1">
            <a:gsLst>
              <a:gs pos="0">
                <a:srgbClr val="FF3138"/>
              </a:gs>
              <a:gs pos="100000">
                <a:srgbClr val="C7212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050" b="1">
                <a:solidFill>
                  <a:srgbClr val="FFFFFF"/>
                </a:solidFill>
                <a:latin typeface="Segoe UI"/>
              </a:rPr>
              <a:t>Live · 36 phản hồi</a:t>
            </a:r>
          </a:p>
        </p:txBody>
      </p:sp>
      <p:sp>
        <p:nvSpPr>
          <p:cNvPr id="20" name="TextBox 19"/>
          <p:cNvSpPr txBox="1"/>
          <p:nvPr/>
        </p:nvSpPr>
        <p:spPr>
          <a:xfrm>
            <a:off x="7059168" y="1920240"/>
            <a:ext cx="1828800" cy="914400"/>
          </a:xfrm>
          <a:prstGeom prst="rect">
            <a:avLst/>
          </a:prstGeom>
          <a:noFill/>
        </p:spPr>
        <p:txBody>
          <a:bodyPr wrap="square" lIns="0" rIns="0" tIns="0" bIns="0" anchor="t">
            <a:spAutoFit/>
          </a:bodyPr>
          <a:lstStyle/>
          <a:p>
            <a:pPr algn="l">
              <a:lnSpc>
                <a:spcPct val="100000"/>
              </a:lnSpc>
              <a:spcBef>
                <a:spcPts val="0"/>
              </a:spcBef>
              <a:spcAft>
                <a:spcPts val="0"/>
              </a:spcAft>
            </a:pPr>
            <a:r>
              <a:rPr sz="5000" b="1">
                <a:solidFill>
                  <a:srgbClr val="C72127"/>
                </a:solidFill>
                <a:latin typeface="Segoe UI"/>
              </a:rPr>
              <a:t>42%</a:t>
            </a:r>
          </a:p>
        </p:txBody>
      </p:sp>
      <p:sp>
        <p:nvSpPr>
          <p:cNvPr id="21" name="TextBox 20"/>
          <p:cNvSpPr txBox="1"/>
          <p:nvPr/>
        </p:nvSpPr>
        <p:spPr>
          <a:xfrm>
            <a:off x="8641080" y="2103120"/>
            <a:ext cx="2389327" cy="685800"/>
          </a:xfrm>
          <a:prstGeom prst="rect">
            <a:avLst/>
          </a:prstGeom>
          <a:noFill/>
        </p:spPr>
        <p:txBody>
          <a:bodyPr wrap="square" lIns="0" rIns="0" tIns="0" bIns="0" anchor="t">
            <a:spAutoFit/>
          </a:bodyPr>
          <a:lstStyle/>
          <a:p>
            <a:pPr algn="l">
              <a:lnSpc>
                <a:spcPct val="130000"/>
              </a:lnSpc>
              <a:spcBef>
                <a:spcPts val="0"/>
              </a:spcBef>
              <a:spcAft>
                <a:spcPts val="0"/>
              </a:spcAft>
            </a:pPr>
            <a:r>
              <a:rPr sz="1250" b="1">
                <a:solidFill>
                  <a:srgbClr val="0B2F55"/>
                </a:solidFill>
                <a:latin typeface="Segoe UI"/>
              </a:rPr>
              <a:t>lớp đang mơ hồ hoặc bị kẹt tại slide hiện tại</a:t>
            </a:r>
          </a:p>
        </p:txBody>
      </p:sp>
      <p:sp>
        <p:nvSpPr>
          <p:cNvPr id="22" name="TextBox 21"/>
          <p:cNvSpPr txBox="1"/>
          <p:nvPr/>
        </p:nvSpPr>
        <p:spPr>
          <a:xfrm>
            <a:off x="7059168" y="2971800"/>
            <a:ext cx="1828800" cy="256032"/>
          </a:xfrm>
          <a:prstGeom prst="rect">
            <a:avLst/>
          </a:prstGeom>
          <a:noFill/>
        </p:spPr>
        <p:txBody>
          <a:bodyPr wrap="square" lIns="0" rIns="0" tIns="0" bIns="0" anchor="t">
            <a:spAutoFit/>
          </a:bodyPr>
          <a:lstStyle/>
          <a:p>
            <a:pPr algn="l">
              <a:lnSpc>
                <a:spcPct val="120000"/>
              </a:lnSpc>
              <a:spcBef>
                <a:spcPts val="0"/>
              </a:spcBef>
              <a:spcAft>
                <a:spcPts val="0"/>
              </a:spcAft>
            </a:pPr>
            <a:r>
              <a:rPr sz="1150" b="1">
                <a:solidFill>
                  <a:srgbClr val="0B2F55"/>
                </a:solidFill>
                <a:latin typeface="Segoe UI"/>
              </a:rPr>
              <a:t>Đã hiểu</a:t>
            </a:r>
          </a:p>
        </p:txBody>
      </p:sp>
      <p:sp>
        <p:nvSpPr>
          <p:cNvPr id="23" name="TextBox 22"/>
          <p:cNvSpPr txBox="1"/>
          <p:nvPr/>
        </p:nvSpPr>
        <p:spPr>
          <a:xfrm>
            <a:off x="10298887" y="2971800"/>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150" b="1">
                <a:solidFill>
                  <a:srgbClr val="52657F"/>
                </a:solidFill>
                <a:latin typeface="Segoe UI"/>
              </a:rPr>
              <a:t>58%</a:t>
            </a:r>
          </a:p>
        </p:txBody>
      </p:sp>
      <p:sp>
        <p:nvSpPr>
          <p:cNvPr id="24" name="Rounded Rectangle 23"/>
          <p:cNvSpPr/>
          <p:nvPr/>
        </p:nvSpPr>
        <p:spPr>
          <a:xfrm>
            <a:off x="7059168" y="3246120"/>
            <a:ext cx="399867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7059168" y="3246120"/>
            <a:ext cx="2319229" cy="137160"/>
          </a:xfrm>
          <a:prstGeom prst="roundRect">
            <a:avLst>
              <a:gd name="adj" fmla="val 50000"/>
            </a:avLst>
          </a:prstGeom>
          <a:gradFill rotWithShape="1">
            <a:gsLst>
              <a:gs pos="0">
                <a:srgbClr val="0F7DF0"/>
              </a:gs>
              <a:gs pos="100000">
                <a:srgbClr val="134D8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059168" y="3520440"/>
            <a:ext cx="1828800" cy="256032"/>
          </a:xfrm>
          <a:prstGeom prst="rect">
            <a:avLst/>
          </a:prstGeom>
          <a:noFill/>
        </p:spPr>
        <p:txBody>
          <a:bodyPr wrap="square" lIns="0" rIns="0" tIns="0" bIns="0" anchor="t">
            <a:spAutoFit/>
          </a:bodyPr>
          <a:lstStyle/>
          <a:p>
            <a:pPr algn="l">
              <a:lnSpc>
                <a:spcPct val="120000"/>
              </a:lnSpc>
              <a:spcBef>
                <a:spcPts val="0"/>
              </a:spcBef>
              <a:spcAft>
                <a:spcPts val="0"/>
              </a:spcAft>
            </a:pPr>
            <a:r>
              <a:rPr sz="1150" b="1">
                <a:solidFill>
                  <a:srgbClr val="0B2F55"/>
                </a:solidFill>
                <a:latin typeface="Segoe UI"/>
              </a:rPr>
              <a:t>Hơi mơ hồ</a:t>
            </a:r>
          </a:p>
        </p:txBody>
      </p:sp>
      <p:sp>
        <p:nvSpPr>
          <p:cNvPr id="27" name="TextBox 26"/>
          <p:cNvSpPr txBox="1"/>
          <p:nvPr/>
        </p:nvSpPr>
        <p:spPr>
          <a:xfrm>
            <a:off x="10298887" y="3520440"/>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150" b="1">
                <a:solidFill>
                  <a:srgbClr val="52657F"/>
                </a:solidFill>
                <a:latin typeface="Segoe UI"/>
              </a:rPr>
              <a:t>27%</a:t>
            </a:r>
          </a:p>
        </p:txBody>
      </p:sp>
      <p:sp>
        <p:nvSpPr>
          <p:cNvPr id="28" name="Rounded Rectangle 27"/>
          <p:cNvSpPr/>
          <p:nvPr/>
        </p:nvSpPr>
        <p:spPr>
          <a:xfrm>
            <a:off x="7059168" y="3794760"/>
            <a:ext cx="399867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7059168" y="3794760"/>
            <a:ext cx="1079641" cy="137160"/>
          </a:xfrm>
          <a:prstGeom prst="roundRect">
            <a:avLst>
              <a:gd name="adj" fmla="val 50000"/>
            </a:avLst>
          </a:prstGeom>
          <a:gradFill rotWithShape="1">
            <a:gsLst>
              <a:gs pos="0">
                <a:srgbClr val="FFBC54"/>
              </a:gs>
              <a:gs pos="100000">
                <a:srgbClr val="F59E0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059168" y="4069080"/>
            <a:ext cx="1828800" cy="256032"/>
          </a:xfrm>
          <a:prstGeom prst="rect">
            <a:avLst/>
          </a:prstGeom>
          <a:noFill/>
        </p:spPr>
        <p:txBody>
          <a:bodyPr wrap="square" lIns="0" rIns="0" tIns="0" bIns="0" anchor="t">
            <a:spAutoFit/>
          </a:bodyPr>
          <a:lstStyle/>
          <a:p>
            <a:pPr algn="l">
              <a:lnSpc>
                <a:spcPct val="120000"/>
              </a:lnSpc>
              <a:spcBef>
                <a:spcPts val="0"/>
              </a:spcBef>
              <a:spcAft>
                <a:spcPts val="0"/>
              </a:spcAft>
            </a:pPr>
            <a:r>
              <a:rPr sz="1150" b="1">
                <a:solidFill>
                  <a:srgbClr val="0B2F55"/>
                </a:solidFill>
                <a:latin typeface="Segoe UI"/>
              </a:rPr>
              <a:t>Đang bị kẹt</a:t>
            </a:r>
          </a:p>
        </p:txBody>
      </p:sp>
      <p:sp>
        <p:nvSpPr>
          <p:cNvPr id="31" name="TextBox 30"/>
          <p:cNvSpPr txBox="1"/>
          <p:nvPr/>
        </p:nvSpPr>
        <p:spPr>
          <a:xfrm>
            <a:off x="10298887" y="4069080"/>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150" b="1">
                <a:solidFill>
                  <a:srgbClr val="52657F"/>
                </a:solidFill>
                <a:latin typeface="Segoe UI"/>
              </a:rPr>
              <a:t>15%</a:t>
            </a:r>
          </a:p>
        </p:txBody>
      </p:sp>
      <p:sp>
        <p:nvSpPr>
          <p:cNvPr id="32" name="Rounded Rectangle 31"/>
          <p:cNvSpPr/>
          <p:nvPr/>
        </p:nvSpPr>
        <p:spPr>
          <a:xfrm>
            <a:off x="7059168" y="4343400"/>
            <a:ext cx="3998671" cy="137160"/>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7059168" y="4343400"/>
            <a:ext cx="599800" cy="137160"/>
          </a:xfrm>
          <a:prstGeom prst="roundRect">
            <a:avLst>
              <a:gd name="adj" fmla="val 50000"/>
            </a:avLst>
          </a:prstGeom>
          <a:gradFill rotWithShape="1">
            <a:gsLst>
              <a:gs pos="0">
                <a:srgbClr val="FF4B51"/>
              </a:gs>
              <a:gs pos="100000">
                <a:srgbClr val="C72127"/>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7059168" y="4718303"/>
            <a:ext cx="3998671" cy="1024128"/>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7059168" y="4663440"/>
            <a:ext cx="3998671" cy="1024128"/>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315200" y="4846320"/>
            <a:ext cx="3486607"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9ECBFF"/>
                </a:solidFill>
                <a:latin typeface="Segoe UI"/>
              </a:rPr>
              <a:t>HỆ THỐNG ĐỀ XUẤT</a:t>
            </a:r>
          </a:p>
        </p:txBody>
      </p:sp>
      <p:sp>
        <p:nvSpPr>
          <p:cNvPr id="37" name="TextBox 36"/>
          <p:cNvSpPr txBox="1"/>
          <p:nvPr/>
        </p:nvSpPr>
        <p:spPr>
          <a:xfrm>
            <a:off x="7315200" y="5138928"/>
            <a:ext cx="3486607" cy="502920"/>
          </a:xfrm>
          <a:prstGeom prst="rect">
            <a:avLst/>
          </a:prstGeom>
          <a:noFill/>
        </p:spPr>
        <p:txBody>
          <a:bodyPr wrap="square" lIns="0" rIns="0" tIns="0" bIns="0" anchor="t">
            <a:spAutoFit/>
          </a:bodyPr>
          <a:lstStyle/>
          <a:p>
            <a:pPr algn="l">
              <a:lnSpc>
                <a:spcPct val="130000"/>
              </a:lnSpc>
              <a:spcBef>
                <a:spcPts val="0"/>
              </a:spcBef>
              <a:spcAft>
                <a:spcPts val="0"/>
              </a:spcAft>
            </a:pPr>
            <a:r>
              <a:rPr sz="1200" b="1">
                <a:solidFill>
                  <a:srgbClr val="FFFFFF"/>
                </a:solidFill>
                <a:latin typeface="Segoe UI"/>
              </a:rPr>
              <a:t>Dừng lại 3 phút và gửi poll kiểm tra khái niệm vừa giảng.</a:t>
            </a:r>
          </a:p>
        </p:txBody>
      </p:sp>
      <p:sp>
        <p:nvSpPr>
          <p:cNvPr id="38" name="Freeform 37"/>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42" name="TextBox 41"/>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Learning Pulse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06. DEMO · BƯỚC 2</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07</a:t>
            </a:r>
          </a:p>
        </p:txBody>
      </p:sp>
      <p:sp>
        <p:nvSpPr>
          <p:cNvPr id="7" name="TextBox 6"/>
          <p:cNvSpPr txBox="1"/>
          <p:nvPr/>
        </p:nvSpPr>
        <p:spPr>
          <a:xfrm>
            <a:off x="749808" y="1188720"/>
            <a:ext cx="10607040" cy="548640"/>
          </a:xfrm>
          <a:prstGeom prst="rect">
            <a:avLst/>
          </a:prstGeom>
          <a:noFill/>
        </p:spPr>
        <p:txBody>
          <a:bodyPr wrap="square" lIns="0" rIns="0" tIns="0" bIns="0" anchor="t">
            <a:spAutoFit/>
          </a:bodyPr>
          <a:lstStyle/>
          <a:p>
            <a:pPr algn="l">
              <a:lnSpc>
                <a:spcPct val="108000"/>
              </a:lnSpc>
              <a:spcBef>
                <a:spcPts val="0"/>
              </a:spcBef>
              <a:spcAft>
                <a:spcPts val="0"/>
              </a:spcAft>
            </a:pPr>
            <a:r>
              <a:rPr sz="2900" b="1">
                <a:solidFill>
                  <a:srgbClr val="061B49"/>
                </a:solidFill>
                <a:latin typeface="Segoe UI"/>
              </a:rPr>
              <a:t>Hỏi riêng trợ giảng — không cần giải thích lại bối cảnh.</a:t>
            </a:r>
          </a:p>
        </p:txBody>
      </p:sp>
      <p:sp>
        <p:nvSpPr>
          <p:cNvPr id="8" name="TextBox 7"/>
          <p:cNvSpPr txBox="1"/>
          <p:nvPr/>
        </p:nvSpPr>
        <p:spPr>
          <a:xfrm>
            <a:off x="749808" y="1828800"/>
            <a:ext cx="9875520" cy="64008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Một sinh viên chưa hiểu Attention Mask nhưng ngại phát biểu. VLearn tự động đính kèm tên file, trang đang xem và nội dung liên quan.</a:t>
            </a:r>
          </a:p>
        </p:txBody>
      </p:sp>
      <p:sp>
        <p:nvSpPr>
          <p:cNvPr id="9" name="Rounded Rectangle 8"/>
          <p:cNvSpPr/>
          <p:nvPr/>
        </p:nvSpPr>
        <p:spPr>
          <a:xfrm>
            <a:off x="749808" y="2683764"/>
            <a:ext cx="2398699" cy="21488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2606040"/>
            <a:ext cx="2398699" cy="214884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987552" y="2843784"/>
            <a:ext cx="384048" cy="384048"/>
          </a:xfrm>
          <a:prstGeom prst="roundRect">
            <a:avLst>
              <a:gd name="adj" fmla="val 30000"/>
            </a:avLst>
          </a:prstGeom>
          <a:gradFill rotWithShape="1">
            <a:gsLst>
              <a:gs pos="0">
                <a:srgbClr val="2588FF"/>
              </a:gs>
              <a:gs pos="100000">
                <a:srgbClr val="134D8B"/>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1</a:t>
            </a:r>
          </a:p>
        </p:txBody>
      </p:sp>
      <p:sp>
        <p:nvSpPr>
          <p:cNvPr id="12" name="TextBox 11"/>
          <p:cNvSpPr txBox="1"/>
          <p:nvPr/>
        </p:nvSpPr>
        <p:spPr>
          <a:xfrm>
            <a:off x="987552" y="3355848"/>
            <a:ext cx="1923211" cy="1280160"/>
          </a:xfrm>
          <a:prstGeom prst="rect">
            <a:avLst/>
          </a:prstGeom>
          <a:noFill/>
        </p:spPr>
        <p:txBody>
          <a:bodyPr wrap="square" lIns="0" rIns="0" tIns="0" bIns="0" anchor="t">
            <a:spAutoFit/>
          </a:bodyPr>
          <a:lstStyle/>
          <a:p>
            <a:pPr algn="l">
              <a:lnSpc>
                <a:spcPct val="118000"/>
              </a:lnSpc>
              <a:spcBef>
                <a:spcPts val="0"/>
              </a:spcBef>
              <a:spcAft>
                <a:spcPts val="0"/>
              </a:spcAft>
            </a:pPr>
            <a:r>
              <a:rPr sz="1350" b="1">
                <a:solidFill>
                  <a:srgbClr val="0B2F55"/>
                </a:solidFill>
                <a:latin typeface="Segoe UI"/>
              </a:rPr>
              <a:t>Sinh viên bấm “Hỏi riêng”</a:t>
            </a:r>
          </a:p>
          <a:p>
            <a:pPr algn="l">
              <a:lnSpc>
                <a:spcPct val="132000"/>
              </a:lnSpc>
              <a:spcBef>
                <a:spcPts val="700"/>
              </a:spcBef>
              <a:spcAft>
                <a:spcPts val="0"/>
              </a:spcAft>
            </a:pPr>
            <a:r>
              <a:rPr sz="1150" b="0">
                <a:solidFill>
                  <a:srgbClr val="52657F"/>
                </a:solidFill>
                <a:latin typeface="Segoe UI"/>
              </a:rPr>
              <a:t>Câu hỏi gửi đi kèm file, trang và nội dung đang xem.</a:t>
            </a:r>
          </a:p>
        </p:txBody>
      </p:sp>
      <p:sp>
        <p:nvSpPr>
          <p:cNvPr id="13" name="Right Arrow 12"/>
          <p:cNvSpPr/>
          <p:nvPr/>
        </p:nvSpPr>
        <p:spPr>
          <a:xfrm>
            <a:off x="3212515" y="3566160"/>
            <a:ext cx="237744" cy="164592"/>
          </a:xfrm>
          <a:prstGeom prst="rightArrow">
            <a:avLst>
              <a:gd name="adj1" fmla="val 42000"/>
              <a:gd name="adj2" fmla="val 55000"/>
            </a:avLst>
          </a:prstGeom>
          <a:solidFill>
            <a:srgbClr val="B6C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14267" y="2683764"/>
            <a:ext cx="2398699" cy="21488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3514267" y="2606040"/>
            <a:ext cx="2398699" cy="214884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752011" y="2843784"/>
            <a:ext cx="384048" cy="384048"/>
          </a:xfrm>
          <a:prstGeom prst="roundRect">
            <a:avLst>
              <a:gd name="adj" fmla="val 30000"/>
            </a:avLst>
          </a:prstGeom>
          <a:gradFill rotWithShape="1">
            <a:gsLst>
              <a:gs pos="0">
                <a:srgbClr val="2588FF"/>
              </a:gs>
              <a:gs pos="100000">
                <a:srgbClr val="134D8B"/>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2</a:t>
            </a:r>
          </a:p>
        </p:txBody>
      </p:sp>
      <p:sp>
        <p:nvSpPr>
          <p:cNvPr id="17" name="TextBox 16"/>
          <p:cNvSpPr txBox="1"/>
          <p:nvPr/>
        </p:nvSpPr>
        <p:spPr>
          <a:xfrm>
            <a:off x="3752011" y="3355848"/>
            <a:ext cx="1923211" cy="1280160"/>
          </a:xfrm>
          <a:prstGeom prst="rect">
            <a:avLst/>
          </a:prstGeom>
          <a:noFill/>
        </p:spPr>
        <p:txBody>
          <a:bodyPr wrap="square" lIns="0" rIns="0" tIns="0" bIns="0" anchor="t">
            <a:spAutoFit/>
          </a:bodyPr>
          <a:lstStyle/>
          <a:p>
            <a:pPr algn="l">
              <a:lnSpc>
                <a:spcPct val="118000"/>
              </a:lnSpc>
              <a:spcBef>
                <a:spcPts val="0"/>
              </a:spcBef>
              <a:spcAft>
                <a:spcPts val="0"/>
              </a:spcAft>
            </a:pPr>
            <a:r>
              <a:rPr sz="1350" b="1">
                <a:solidFill>
                  <a:srgbClr val="0B2F55"/>
                </a:solidFill>
                <a:latin typeface="Segoe UI"/>
              </a:rPr>
              <a:t>AI gom câu hỏi tương tự</a:t>
            </a:r>
          </a:p>
          <a:p>
            <a:pPr algn="l">
              <a:lnSpc>
                <a:spcPct val="132000"/>
              </a:lnSpc>
              <a:spcBef>
                <a:spcPts val="700"/>
              </a:spcBef>
              <a:spcAft>
                <a:spcPts val="0"/>
              </a:spcAft>
            </a:pPr>
            <a:r>
              <a:rPr sz="1150" b="0">
                <a:solidFill>
                  <a:srgbClr val="52657F"/>
                </a:solidFill>
                <a:latin typeface="Segoe UI"/>
              </a:rPr>
              <a:t>“Có 8 sinh viên chưa hiểu Attention Mask dùng để làm gì.”</a:t>
            </a:r>
          </a:p>
        </p:txBody>
      </p:sp>
      <p:sp>
        <p:nvSpPr>
          <p:cNvPr id="18" name="Right Arrow 17"/>
          <p:cNvSpPr/>
          <p:nvPr/>
        </p:nvSpPr>
        <p:spPr>
          <a:xfrm>
            <a:off x="5976975" y="3566160"/>
            <a:ext cx="237744" cy="164592"/>
          </a:xfrm>
          <a:prstGeom prst="rightArrow">
            <a:avLst>
              <a:gd name="adj1" fmla="val 42000"/>
              <a:gd name="adj2" fmla="val 55000"/>
            </a:avLst>
          </a:prstGeom>
          <a:solidFill>
            <a:srgbClr val="B6C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2683764"/>
            <a:ext cx="2398699" cy="21488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78727" y="2606040"/>
            <a:ext cx="2398699" cy="214884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516471" y="2843784"/>
            <a:ext cx="384048" cy="384048"/>
          </a:xfrm>
          <a:prstGeom prst="roundRect">
            <a:avLst>
              <a:gd name="adj" fmla="val 30000"/>
            </a:avLst>
          </a:prstGeom>
          <a:gradFill rotWithShape="1">
            <a:gsLst>
              <a:gs pos="0">
                <a:srgbClr val="2588FF"/>
              </a:gs>
              <a:gs pos="100000">
                <a:srgbClr val="134D8B"/>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3</a:t>
            </a:r>
          </a:p>
        </p:txBody>
      </p:sp>
      <p:sp>
        <p:nvSpPr>
          <p:cNvPr id="22" name="TextBox 21"/>
          <p:cNvSpPr txBox="1"/>
          <p:nvPr/>
        </p:nvSpPr>
        <p:spPr>
          <a:xfrm>
            <a:off x="6516471" y="3355848"/>
            <a:ext cx="1923211" cy="1280160"/>
          </a:xfrm>
          <a:prstGeom prst="rect">
            <a:avLst/>
          </a:prstGeom>
          <a:noFill/>
        </p:spPr>
        <p:txBody>
          <a:bodyPr wrap="square" lIns="0" rIns="0" tIns="0" bIns="0" anchor="t">
            <a:spAutoFit/>
          </a:bodyPr>
          <a:lstStyle/>
          <a:p>
            <a:pPr algn="l">
              <a:lnSpc>
                <a:spcPct val="118000"/>
              </a:lnSpc>
              <a:spcBef>
                <a:spcPts val="0"/>
              </a:spcBef>
              <a:spcAft>
                <a:spcPts val="0"/>
              </a:spcAft>
            </a:pPr>
            <a:r>
              <a:rPr sz="1350" b="1">
                <a:solidFill>
                  <a:srgbClr val="0B2F55"/>
                </a:solidFill>
                <a:latin typeface="Segoe UI"/>
              </a:rPr>
              <a:t>Giảng viên chọn cách trả lời</a:t>
            </a:r>
          </a:p>
          <a:p>
            <a:pPr algn="l">
              <a:lnSpc>
                <a:spcPct val="132000"/>
              </a:lnSpc>
              <a:spcBef>
                <a:spcPts val="700"/>
              </a:spcBef>
              <a:spcAft>
                <a:spcPts val="0"/>
              </a:spcAft>
            </a:pPr>
            <a:r>
              <a:rPr sz="1150" b="0">
                <a:solidFill>
                  <a:srgbClr val="52657F"/>
                </a:solidFill>
                <a:latin typeface="Segoe UI"/>
              </a:rPr>
              <a:t>Trả lời riêng · trả lời ẩn danh cho cả lớp · đăng Clarification Card.</a:t>
            </a:r>
          </a:p>
        </p:txBody>
      </p:sp>
      <p:sp>
        <p:nvSpPr>
          <p:cNvPr id="23" name="Right Arrow 22"/>
          <p:cNvSpPr/>
          <p:nvPr/>
        </p:nvSpPr>
        <p:spPr>
          <a:xfrm>
            <a:off x="8741435" y="3566160"/>
            <a:ext cx="237744" cy="164592"/>
          </a:xfrm>
          <a:prstGeom prst="rightArrow">
            <a:avLst>
              <a:gd name="adj1" fmla="val 42000"/>
              <a:gd name="adj2" fmla="val 55000"/>
            </a:avLst>
          </a:prstGeom>
          <a:solidFill>
            <a:srgbClr val="B6C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187" y="2683764"/>
            <a:ext cx="2398699" cy="21488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043187" y="2606040"/>
            <a:ext cx="2398699" cy="214884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9280931" y="2843784"/>
            <a:ext cx="384048" cy="384048"/>
          </a:xfrm>
          <a:prstGeom prst="roundRect">
            <a:avLst>
              <a:gd name="adj" fmla="val 30000"/>
            </a:avLst>
          </a:prstGeom>
          <a:gradFill rotWithShape="1">
            <a:gsLst>
              <a:gs pos="0">
                <a:srgbClr val="2588FF"/>
              </a:gs>
              <a:gs pos="100000">
                <a:srgbClr val="134D8B"/>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4</a:t>
            </a:r>
          </a:p>
        </p:txBody>
      </p:sp>
      <p:sp>
        <p:nvSpPr>
          <p:cNvPr id="27" name="TextBox 26"/>
          <p:cNvSpPr txBox="1"/>
          <p:nvPr/>
        </p:nvSpPr>
        <p:spPr>
          <a:xfrm>
            <a:off x="9280931" y="3355848"/>
            <a:ext cx="1923211" cy="1280160"/>
          </a:xfrm>
          <a:prstGeom prst="rect">
            <a:avLst/>
          </a:prstGeom>
          <a:noFill/>
        </p:spPr>
        <p:txBody>
          <a:bodyPr wrap="square" lIns="0" rIns="0" tIns="0" bIns="0" anchor="t">
            <a:spAutoFit/>
          </a:bodyPr>
          <a:lstStyle/>
          <a:p>
            <a:pPr algn="l">
              <a:lnSpc>
                <a:spcPct val="118000"/>
              </a:lnSpc>
              <a:spcBef>
                <a:spcPts val="0"/>
              </a:spcBef>
              <a:spcAft>
                <a:spcPts val="0"/>
              </a:spcAft>
            </a:pPr>
            <a:r>
              <a:rPr sz="1350" b="1">
                <a:solidFill>
                  <a:srgbClr val="0B2F55"/>
                </a:solidFill>
                <a:latin typeface="Segoe UI"/>
              </a:rPr>
              <a:t>Sinh viên xác nhận đã hiểu</a:t>
            </a:r>
          </a:p>
          <a:p>
            <a:pPr algn="l">
              <a:lnSpc>
                <a:spcPct val="132000"/>
              </a:lnSpc>
              <a:spcBef>
                <a:spcPts val="700"/>
              </a:spcBef>
              <a:spcAft>
                <a:spcPts val="0"/>
              </a:spcAft>
            </a:pPr>
            <a:r>
              <a:rPr sz="1150" b="0">
                <a:solidFill>
                  <a:srgbClr val="52657F"/>
                </a:solidFill>
                <a:latin typeface="Segoe UI"/>
              </a:rPr>
              <a:t>Phản hồi đúng ngữ cảnh, ngay tại slide đó.</a:t>
            </a:r>
          </a:p>
        </p:txBody>
      </p:sp>
      <p:sp>
        <p:nvSpPr>
          <p:cNvPr id="28" name="Rounded Rectangle 27"/>
          <p:cNvSpPr/>
          <p:nvPr/>
        </p:nvSpPr>
        <p:spPr>
          <a:xfrm>
            <a:off x="749808" y="5106924"/>
            <a:ext cx="10692079" cy="969264"/>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749808" y="5029200"/>
            <a:ext cx="10692079" cy="969264"/>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152144" y="5248656"/>
            <a:ext cx="9887407" cy="640080"/>
          </a:xfrm>
          <a:prstGeom prst="rect">
            <a:avLst/>
          </a:prstGeom>
          <a:noFill/>
        </p:spPr>
        <p:txBody>
          <a:bodyPr wrap="square" lIns="0" rIns="0" tIns="0" bIns="0" anchor="t">
            <a:spAutoFit/>
          </a:bodyPr>
          <a:lstStyle/>
          <a:p>
            <a:pPr algn="l">
              <a:lnSpc>
                <a:spcPct val="135000"/>
              </a:lnSpc>
              <a:spcBef>
                <a:spcPts val="0"/>
              </a:spcBef>
              <a:spcAft>
                <a:spcPts val="0"/>
              </a:spcAft>
            </a:pPr>
            <a:r>
              <a:rPr sz="1400" b="1">
                <a:solidFill>
                  <a:srgbClr val="134D8B"/>
                </a:solidFill>
                <a:latin typeface="Segoe UI"/>
              </a:rPr>
              <a:t>Kết quả: </a:t>
            </a:r>
            <a:r>
              <a:rPr sz="1400" b="0">
                <a:solidFill>
                  <a:srgbClr val="30435E"/>
                </a:solidFill>
                <a:latin typeface="Segoe UI"/>
              </a:rPr>
              <a:t>câu hỏi ngại nói ra trở thành dữ liệu giảng viên nhìn thấy được — và trở thành câu trả lời cho cả lớp.</a:t>
            </a:r>
          </a:p>
        </p:txBody>
      </p:sp>
      <p:sp>
        <p:nvSpPr>
          <p:cNvPr id="31" name="Freeform 30"/>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35" name="TextBox 34"/>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Private question → shared clarity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07. INTERACTION CONSOLE</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08</a:t>
            </a:r>
          </a:p>
        </p:txBody>
      </p:sp>
      <p:sp>
        <p:nvSpPr>
          <p:cNvPr id="7" name="TextBox 6"/>
          <p:cNvSpPr txBox="1"/>
          <p:nvPr/>
        </p:nvSpPr>
        <p:spPr>
          <a:xfrm>
            <a:off x="749808" y="1133856"/>
            <a:ext cx="10607040" cy="530352"/>
          </a:xfrm>
          <a:prstGeom prst="rect">
            <a:avLst/>
          </a:prstGeom>
          <a:noFill/>
        </p:spPr>
        <p:txBody>
          <a:bodyPr wrap="square" lIns="0" rIns="0" tIns="0" bIns="0" anchor="t">
            <a:spAutoFit/>
          </a:bodyPr>
          <a:lstStyle/>
          <a:p>
            <a:pPr algn="l">
              <a:lnSpc>
                <a:spcPct val="108000"/>
              </a:lnSpc>
              <a:spcBef>
                <a:spcPts val="0"/>
              </a:spcBef>
              <a:spcAft>
                <a:spcPts val="0"/>
              </a:spcAft>
            </a:pPr>
            <a:r>
              <a:rPr sz="2900" b="1">
                <a:solidFill>
                  <a:srgbClr val="061B49"/>
                </a:solidFill>
                <a:latin typeface="Segoe UI"/>
              </a:rPr>
              <a:t>Giảng viên nhìn thấy trạng thái thật của lớp.</a:t>
            </a:r>
          </a:p>
        </p:txBody>
      </p:sp>
      <p:sp>
        <p:nvSpPr>
          <p:cNvPr id="8" name="Rounded Rectangle 7"/>
          <p:cNvSpPr/>
          <p:nvPr/>
        </p:nvSpPr>
        <p:spPr>
          <a:xfrm>
            <a:off x="749808" y="1997964"/>
            <a:ext cx="6903720" cy="4041648"/>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749808" y="1920240"/>
            <a:ext cx="6903720" cy="4041648"/>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33856" y="2194560"/>
            <a:ext cx="3657600" cy="292608"/>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0B2F55"/>
                </a:solidFill>
                <a:latin typeface="Segoe UI"/>
              </a:rPr>
              <a:t>Interaction Console</a:t>
            </a:r>
          </a:p>
        </p:txBody>
      </p:sp>
      <p:sp>
        <p:nvSpPr>
          <p:cNvPr id="11" name="Rounded Rectangle 10"/>
          <p:cNvSpPr/>
          <p:nvPr/>
        </p:nvSpPr>
        <p:spPr>
          <a:xfrm>
            <a:off x="6543166" y="2194560"/>
            <a:ext cx="726313" cy="292608"/>
          </a:xfrm>
          <a:prstGeom prst="roundRect">
            <a:avLst>
              <a:gd name="adj" fmla="val 50000"/>
            </a:avLst>
          </a:prstGeom>
          <a:gradFill rotWithShape="1">
            <a:gsLst>
              <a:gs pos="0">
                <a:srgbClr val="FF3138"/>
              </a:gs>
              <a:gs pos="100000">
                <a:srgbClr val="C72127"/>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050" b="1">
                <a:solidFill>
                  <a:srgbClr val="FFFFFF"/>
                </a:solidFill>
                <a:latin typeface="Segoe UI"/>
              </a:rPr>
              <a:t>Live</a:t>
            </a:r>
          </a:p>
        </p:txBody>
      </p:sp>
      <p:sp>
        <p:nvSpPr>
          <p:cNvPr id="12" name="Rounded Rectangle 11"/>
          <p:cNvSpPr/>
          <p:nvPr/>
        </p:nvSpPr>
        <p:spPr>
          <a:xfrm>
            <a:off x="1133856" y="2697480"/>
            <a:ext cx="1923287" cy="86868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1133856" y="2651760"/>
            <a:ext cx="1923287" cy="86868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335024" y="2743200"/>
            <a:ext cx="1520951" cy="384048"/>
          </a:xfrm>
          <a:prstGeom prst="rect">
            <a:avLst/>
          </a:prstGeom>
          <a:noFill/>
        </p:spPr>
        <p:txBody>
          <a:bodyPr wrap="square" lIns="0" rIns="0" tIns="0" bIns="0" anchor="t">
            <a:spAutoFit/>
          </a:bodyPr>
          <a:lstStyle/>
          <a:p>
            <a:pPr algn="l">
              <a:lnSpc>
                <a:spcPct val="120000"/>
              </a:lnSpc>
              <a:spcBef>
                <a:spcPts val="0"/>
              </a:spcBef>
              <a:spcAft>
                <a:spcPts val="0"/>
              </a:spcAft>
            </a:pPr>
            <a:r>
              <a:rPr sz="2200" b="1">
                <a:solidFill>
                  <a:srgbClr val="061B49"/>
                </a:solidFill>
                <a:latin typeface="Segoe UI"/>
              </a:rPr>
              <a:t>36</a:t>
            </a:r>
          </a:p>
        </p:txBody>
      </p:sp>
      <p:sp>
        <p:nvSpPr>
          <p:cNvPr id="15" name="TextBox 14"/>
          <p:cNvSpPr txBox="1"/>
          <p:nvPr/>
        </p:nvSpPr>
        <p:spPr>
          <a:xfrm>
            <a:off x="1335024" y="3163824"/>
            <a:ext cx="1520951"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52657F"/>
                </a:solidFill>
                <a:latin typeface="Segoe UI"/>
              </a:rPr>
              <a:t>sinh viên</a:t>
            </a:r>
          </a:p>
        </p:txBody>
      </p:sp>
      <p:sp>
        <p:nvSpPr>
          <p:cNvPr id="16" name="Rounded Rectangle 15"/>
          <p:cNvSpPr/>
          <p:nvPr/>
        </p:nvSpPr>
        <p:spPr>
          <a:xfrm>
            <a:off x="3240023" y="2697480"/>
            <a:ext cx="1923287" cy="86868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240023" y="2651760"/>
            <a:ext cx="1923287" cy="86868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41192" y="2743200"/>
            <a:ext cx="1520951" cy="384048"/>
          </a:xfrm>
          <a:prstGeom prst="rect">
            <a:avLst/>
          </a:prstGeom>
          <a:noFill/>
        </p:spPr>
        <p:txBody>
          <a:bodyPr wrap="square" lIns="0" rIns="0" tIns="0" bIns="0" anchor="t">
            <a:spAutoFit/>
          </a:bodyPr>
          <a:lstStyle/>
          <a:p>
            <a:pPr algn="l">
              <a:lnSpc>
                <a:spcPct val="120000"/>
              </a:lnSpc>
              <a:spcBef>
                <a:spcPts val="0"/>
              </a:spcBef>
              <a:spcAft>
                <a:spcPts val="0"/>
              </a:spcAft>
            </a:pPr>
            <a:r>
              <a:rPr sz="2200" b="1">
                <a:solidFill>
                  <a:srgbClr val="C72127"/>
                </a:solidFill>
                <a:latin typeface="Segoe UI"/>
              </a:rPr>
              <a:t>42%</a:t>
            </a:r>
          </a:p>
        </p:txBody>
      </p:sp>
      <p:sp>
        <p:nvSpPr>
          <p:cNvPr id="19" name="TextBox 18"/>
          <p:cNvSpPr txBox="1"/>
          <p:nvPr/>
        </p:nvSpPr>
        <p:spPr>
          <a:xfrm>
            <a:off x="3441192" y="3163824"/>
            <a:ext cx="1520951"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52657F"/>
                </a:solidFill>
                <a:latin typeface="Segoe UI"/>
              </a:rPr>
              <a:t>mơ hồ / kẹt</a:t>
            </a:r>
          </a:p>
        </p:txBody>
      </p:sp>
      <p:sp>
        <p:nvSpPr>
          <p:cNvPr id="20" name="Rounded Rectangle 19"/>
          <p:cNvSpPr/>
          <p:nvPr/>
        </p:nvSpPr>
        <p:spPr>
          <a:xfrm>
            <a:off x="5346192" y="2697480"/>
            <a:ext cx="1923287" cy="86868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46192" y="2651760"/>
            <a:ext cx="1923287" cy="86868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47360" y="2743200"/>
            <a:ext cx="1520951" cy="384048"/>
          </a:xfrm>
          <a:prstGeom prst="rect">
            <a:avLst/>
          </a:prstGeom>
          <a:noFill/>
        </p:spPr>
        <p:txBody>
          <a:bodyPr wrap="square" lIns="0" rIns="0" tIns="0" bIns="0" anchor="t">
            <a:spAutoFit/>
          </a:bodyPr>
          <a:lstStyle/>
          <a:p>
            <a:pPr algn="l">
              <a:lnSpc>
                <a:spcPct val="120000"/>
              </a:lnSpc>
              <a:spcBef>
                <a:spcPts val="0"/>
              </a:spcBef>
              <a:spcAft>
                <a:spcPts val="0"/>
              </a:spcAft>
            </a:pPr>
            <a:r>
              <a:rPr sz="2200" b="1">
                <a:solidFill>
                  <a:srgbClr val="134D8B"/>
                </a:solidFill>
                <a:latin typeface="Segoe UI"/>
              </a:rPr>
              <a:t>8</a:t>
            </a:r>
          </a:p>
        </p:txBody>
      </p:sp>
      <p:sp>
        <p:nvSpPr>
          <p:cNvPr id="23" name="TextBox 22"/>
          <p:cNvSpPr txBox="1"/>
          <p:nvPr/>
        </p:nvSpPr>
        <p:spPr>
          <a:xfrm>
            <a:off x="5547360" y="3163824"/>
            <a:ext cx="1520951"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52657F"/>
                </a:solidFill>
                <a:latin typeface="Segoe UI"/>
              </a:rPr>
              <a:t>câu hỏi mới</a:t>
            </a:r>
          </a:p>
        </p:txBody>
      </p:sp>
      <p:sp>
        <p:nvSpPr>
          <p:cNvPr id="24" name="TextBox 23"/>
          <p:cNvSpPr txBox="1"/>
          <p:nvPr/>
        </p:nvSpPr>
        <p:spPr>
          <a:xfrm>
            <a:off x="1133856" y="3749039"/>
            <a:ext cx="2926080"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506680"/>
                </a:solidFill>
                <a:latin typeface="Segoe UI"/>
              </a:rPr>
              <a:t>PULSE THEO SLIDE</a:t>
            </a:r>
          </a:p>
        </p:txBody>
      </p:sp>
      <p:sp>
        <p:nvSpPr>
          <p:cNvPr id="25" name="Rounded Rectangle 24"/>
          <p:cNvSpPr/>
          <p:nvPr/>
        </p:nvSpPr>
        <p:spPr>
          <a:xfrm>
            <a:off x="1133856" y="4069080"/>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1412748" y="4069080"/>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1691640" y="4069080"/>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1970532" y="4069080"/>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2249424" y="4069080"/>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2528315" y="4069080"/>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2807208" y="4069080"/>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3086100" y="4069080"/>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3364991" y="4069080"/>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3643884" y="4069080"/>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3922776" y="4069080"/>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4201668" y="4069080"/>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1133856" y="4347972"/>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412748" y="4347972"/>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691640" y="4347972"/>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1970532" y="4347972"/>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2249424" y="4347972"/>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2528315" y="4347972"/>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2807208" y="4347972"/>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3086100" y="4347972"/>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3364991" y="4347972"/>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3643884" y="4347972"/>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3922776" y="4347972"/>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4201668" y="4347972"/>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1133856"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1412748"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1691640"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1970532" y="4626864"/>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2249424" y="4626864"/>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2528315" y="4626864"/>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2807208" y="4626864"/>
            <a:ext cx="214884" cy="214884"/>
          </a:xfrm>
          <a:prstGeom prst="roundRect">
            <a:avLst>
              <a:gd name="adj" fmla="val 28000"/>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3086100"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3364991" y="4626864"/>
            <a:ext cx="214884" cy="214884"/>
          </a:xfrm>
          <a:prstGeom prst="roundRect">
            <a:avLst>
              <a:gd name="adj" fmla="val 2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3643884"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3922776"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4201668" y="4626864"/>
            <a:ext cx="214884" cy="214884"/>
          </a:xfrm>
          <a:prstGeom prst="roundRect">
            <a:avLst>
              <a:gd name="adj" fmla="val 28000"/>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1133856" y="5084064"/>
            <a:ext cx="118872" cy="118872"/>
          </a:xfrm>
          <a:prstGeom prst="ellipse">
            <a:avLst/>
          </a:prstGeom>
          <a:solidFill>
            <a:srgbClr val="177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16736" y="5047488"/>
            <a:ext cx="1280160"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506680"/>
                </a:solidFill>
                <a:latin typeface="Segoe UI"/>
              </a:rPr>
              <a:t>Đã hiểu</a:t>
            </a:r>
          </a:p>
        </p:txBody>
      </p:sp>
      <p:sp>
        <p:nvSpPr>
          <p:cNvPr id="63" name="Oval 62"/>
          <p:cNvSpPr/>
          <p:nvPr/>
        </p:nvSpPr>
        <p:spPr>
          <a:xfrm>
            <a:off x="2322576" y="5084064"/>
            <a:ext cx="118872" cy="118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505456" y="5047488"/>
            <a:ext cx="1280160"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506680"/>
                </a:solidFill>
                <a:latin typeface="Segoe UI"/>
              </a:rPr>
              <a:t>Hơi mơ hồ</a:t>
            </a:r>
          </a:p>
        </p:txBody>
      </p:sp>
      <p:sp>
        <p:nvSpPr>
          <p:cNvPr id="65" name="Oval 64"/>
          <p:cNvSpPr/>
          <p:nvPr/>
        </p:nvSpPr>
        <p:spPr>
          <a:xfrm>
            <a:off x="3511296" y="5084064"/>
            <a:ext cx="118872" cy="118872"/>
          </a:xfrm>
          <a:prstGeom prst="ellipse">
            <a:avLst/>
          </a:pr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94176" y="5047488"/>
            <a:ext cx="1280160"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506680"/>
                </a:solidFill>
                <a:latin typeface="Segoe UI"/>
              </a:rPr>
              <a:t>Đang bị kẹt</a:t>
            </a:r>
          </a:p>
        </p:txBody>
      </p:sp>
      <p:sp>
        <p:nvSpPr>
          <p:cNvPr id="67" name="TextBox 66"/>
          <p:cNvSpPr txBox="1"/>
          <p:nvPr/>
        </p:nvSpPr>
        <p:spPr>
          <a:xfrm>
            <a:off x="4727448" y="3749039"/>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506680"/>
                </a:solidFill>
                <a:latin typeface="Segoe UI"/>
              </a:rPr>
              <a:t>CỤM CÂU HỎI (AI)</a:t>
            </a:r>
          </a:p>
        </p:txBody>
      </p:sp>
      <p:sp>
        <p:nvSpPr>
          <p:cNvPr id="68" name="Rounded Rectangle 67"/>
          <p:cNvSpPr/>
          <p:nvPr/>
        </p:nvSpPr>
        <p:spPr>
          <a:xfrm>
            <a:off x="4727448" y="4069080"/>
            <a:ext cx="2542032" cy="5486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ounded Rectangle 68"/>
          <p:cNvSpPr/>
          <p:nvPr/>
        </p:nvSpPr>
        <p:spPr>
          <a:xfrm>
            <a:off x="4727448" y="4023360"/>
            <a:ext cx="2542032" cy="54864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4882896" y="4096512"/>
            <a:ext cx="1691640" cy="42062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0B2F55"/>
                </a:solidFill>
                <a:latin typeface="Segoe UI"/>
              </a:rPr>
              <a:t>Attention Mask dùng để làm gì?</a:t>
            </a:r>
          </a:p>
        </p:txBody>
      </p:sp>
      <p:sp>
        <p:nvSpPr>
          <p:cNvPr id="71" name="TextBox 70"/>
          <p:cNvSpPr txBox="1"/>
          <p:nvPr/>
        </p:nvSpPr>
        <p:spPr>
          <a:xfrm>
            <a:off x="6556248" y="4169664"/>
            <a:ext cx="54864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C72127"/>
                </a:solidFill>
                <a:latin typeface="Segoe UI"/>
              </a:rPr>
              <a:t>8 SV</a:t>
            </a:r>
          </a:p>
        </p:txBody>
      </p:sp>
      <p:sp>
        <p:nvSpPr>
          <p:cNvPr id="72" name="Rounded Rectangle 71"/>
          <p:cNvSpPr/>
          <p:nvPr/>
        </p:nvSpPr>
        <p:spPr>
          <a:xfrm>
            <a:off x="4727448" y="4709160"/>
            <a:ext cx="2542032" cy="5486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ounded Rectangle 72"/>
          <p:cNvSpPr/>
          <p:nvPr/>
        </p:nvSpPr>
        <p:spPr>
          <a:xfrm>
            <a:off x="4727448" y="4663440"/>
            <a:ext cx="2542032" cy="54864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4882896" y="4736592"/>
            <a:ext cx="1691640" cy="42062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0B2F55"/>
                </a:solidFill>
                <a:latin typeface="Segoe UI"/>
              </a:rPr>
              <a:t>Khác nhau giữa encoder / decoder</a:t>
            </a:r>
          </a:p>
        </p:txBody>
      </p:sp>
      <p:sp>
        <p:nvSpPr>
          <p:cNvPr id="75" name="TextBox 74"/>
          <p:cNvSpPr txBox="1"/>
          <p:nvPr/>
        </p:nvSpPr>
        <p:spPr>
          <a:xfrm>
            <a:off x="6556248" y="4809744"/>
            <a:ext cx="54864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F59E0B"/>
                </a:solidFill>
                <a:latin typeface="Segoe UI"/>
              </a:rPr>
              <a:t>5 SV</a:t>
            </a:r>
          </a:p>
        </p:txBody>
      </p:sp>
      <p:sp>
        <p:nvSpPr>
          <p:cNvPr id="76" name="Rounded Rectangle 75"/>
          <p:cNvSpPr/>
          <p:nvPr/>
        </p:nvSpPr>
        <p:spPr>
          <a:xfrm>
            <a:off x="4727448" y="5349240"/>
            <a:ext cx="2542032" cy="54864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ounded Rectangle 76"/>
          <p:cNvSpPr/>
          <p:nvPr/>
        </p:nvSpPr>
        <p:spPr>
          <a:xfrm>
            <a:off x="4727448" y="5303520"/>
            <a:ext cx="2542032" cy="54864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4882896" y="5376672"/>
            <a:ext cx="1691640" cy="42062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0B2F55"/>
                </a:solidFill>
                <a:latin typeface="Segoe UI"/>
              </a:rPr>
              <a:t>Vì sao cần positional encoding</a:t>
            </a:r>
          </a:p>
        </p:txBody>
      </p:sp>
      <p:sp>
        <p:nvSpPr>
          <p:cNvPr id="79" name="TextBox 78"/>
          <p:cNvSpPr txBox="1"/>
          <p:nvPr/>
        </p:nvSpPr>
        <p:spPr>
          <a:xfrm>
            <a:off x="6556248" y="5449824"/>
            <a:ext cx="54864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134D8B"/>
                </a:solidFill>
                <a:latin typeface="Segoe UI"/>
              </a:rPr>
              <a:t>3 SV</a:t>
            </a:r>
          </a:p>
        </p:txBody>
      </p:sp>
      <p:sp>
        <p:nvSpPr>
          <p:cNvPr id="80" name="Rounded Rectangle 79"/>
          <p:cNvSpPr/>
          <p:nvPr/>
        </p:nvSpPr>
        <p:spPr>
          <a:xfrm>
            <a:off x="7882127" y="1997964"/>
            <a:ext cx="3559759" cy="1600200"/>
          </a:xfrm>
          <a:prstGeom prst="roundRect">
            <a:avLst>
              <a:gd name="adj" fmla="val 11000"/>
            </a:avLst>
          </a:prstGeom>
          <a:solidFill>
            <a:srgbClr val="8C11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ounded Rectangle 80"/>
          <p:cNvSpPr/>
          <p:nvPr/>
        </p:nvSpPr>
        <p:spPr>
          <a:xfrm>
            <a:off x="7882127" y="1920240"/>
            <a:ext cx="3559759" cy="1600200"/>
          </a:xfrm>
          <a:prstGeom prst="roundRect">
            <a:avLst>
              <a:gd name="adj" fmla="val 11000"/>
            </a:avLst>
          </a:prstGeom>
          <a:gradFill rotWithShape="1">
            <a:gsLst>
              <a:gs pos="0">
                <a:srgbClr val="FF393F"/>
              </a:gs>
              <a:gs pos="100000">
                <a:srgbClr val="84101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8211311" y="2157984"/>
            <a:ext cx="2901391"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FFDADB"/>
                </a:solidFill>
                <a:latin typeface="Segoe UI"/>
              </a:rPr>
              <a:t>CẢNH BÁO</a:t>
            </a:r>
          </a:p>
        </p:txBody>
      </p:sp>
      <p:sp>
        <p:nvSpPr>
          <p:cNvPr id="83" name="TextBox 82"/>
          <p:cNvSpPr txBox="1"/>
          <p:nvPr/>
        </p:nvSpPr>
        <p:spPr>
          <a:xfrm>
            <a:off x="8211311" y="2487168"/>
            <a:ext cx="2901391" cy="914400"/>
          </a:xfrm>
          <a:prstGeom prst="rect">
            <a:avLst/>
          </a:prstGeom>
          <a:noFill/>
        </p:spPr>
        <p:txBody>
          <a:bodyPr wrap="square" lIns="0" rIns="0" tIns="0" bIns="0" anchor="t">
            <a:spAutoFit/>
          </a:bodyPr>
          <a:lstStyle/>
          <a:p>
            <a:pPr algn="l">
              <a:lnSpc>
                <a:spcPct val="130000"/>
              </a:lnSpc>
              <a:spcBef>
                <a:spcPts val="0"/>
              </a:spcBef>
              <a:spcAft>
                <a:spcPts val="0"/>
              </a:spcAft>
            </a:pPr>
            <a:r>
              <a:rPr sz="1350" b="1">
                <a:solidFill>
                  <a:srgbClr val="FFFFFF"/>
                </a:solidFill>
                <a:latin typeface="Segoe UI"/>
              </a:rPr>
              <a:t>42% lớp chưa theo kịp tại slide 14 — nên dừng lại trước khi sang phần mới.</a:t>
            </a:r>
          </a:p>
        </p:txBody>
      </p:sp>
      <p:sp>
        <p:nvSpPr>
          <p:cNvPr id="84" name="Rounded Rectangle 83"/>
          <p:cNvSpPr/>
          <p:nvPr/>
        </p:nvSpPr>
        <p:spPr>
          <a:xfrm>
            <a:off x="7882127" y="3799332"/>
            <a:ext cx="3559759" cy="2240280"/>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ounded Rectangle 84"/>
          <p:cNvSpPr/>
          <p:nvPr/>
        </p:nvSpPr>
        <p:spPr>
          <a:xfrm>
            <a:off x="7882127" y="3721608"/>
            <a:ext cx="3559759" cy="2240280"/>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8211311" y="3950208"/>
            <a:ext cx="2901391"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9ECBFF"/>
                </a:solidFill>
                <a:latin typeface="Segoe UI"/>
              </a:rPr>
              <a:t>CLARIFICATION CARD</a:t>
            </a:r>
          </a:p>
        </p:txBody>
      </p:sp>
      <p:sp>
        <p:nvSpPr>
          <p:cNvPr id="87" name="TextBox 86"/>
          <p:cNvSpPr txBox="1"/>
          <p:nvPr/>
        </p:nvSpPr>
        <p:spPr>
          <a:xfrm>
            <a:off x="8211311" y="4261104"/>
            <a:ext cx="2901391" cy="310896"/>
          </a:xfrm>
          <a:prstGeom prst="rect">
            <a:avLst/>
          </a:prstGeom>
          <a:noFill/>
        </p:spPr>
        <p:txBody>
          <a:bodyPr wrap="square" lIns="0" rIns="0" tIns="0" bIns="0" anchor="t">
            <a:spAutoFit/>
          </a:bodyPr>
          <a:lstStyle/>
          <a:p>
            <a:pPr algn="l">
              <a:lnSpc>
                <a:spcPct val="120000"/>
              </a:lnSpc>
              <a:spcBef>
                <a:spcPts val="0"/>
              </a:spcBef>
              <a:spcAft>
                <a:spcPts val="0"/>
              </a:spcAft>
            </a:pPr>
            <a:r>
              <a:rPr sz="1700" b="1">
                <a:solidFill>
                  <a:srgbClr val="FFFFFF"/>
                </a:solidFill>
                <a:latin typeface="Segoe UI"/>
              </a:rPr>
              <a:t>Attention Mask</a:t>
            </a:r>
          </a:p>
        </p:txBody>
      </p:sp>
      <p:sp>
        <p:nvSpPr>
          <p:cNvPr id="88" name="TextBox 87"/>
          <p:cNvSpPr txBox="1"/>
          <p:nvPr/>
        </p:nvSpPr>
        <p:spPr>
          <a:xfrm>
            <a:off x="8211311" y="4645152"/>
            <a:ext cx="2901391" cy="822960"/>
          </a:xfrm>
          <a:prstGeom prst="rect">
            <a:avLst/>
          </a:prstGeom>
          <a:noFill/>
        </p:spPr>
        <p:txBody>
          <a:bodyPr wrap="square" lIns="0" rIns="0" tIns="0" bIns="0" anchor="t">
            <a:spAutoFit/>
          </a:bodyPr>
          <a:lstStyle/>
          <a:p>
            <a:pPr algn="l">
              <a:lnSpc>
                <a:spcPct val="135000"/>
              </a:lnSpc>
              <a:spcBef>
                <a:spcPts val="0"/>
              </a:spcBef>
              <a:spcAft>
                <a:spcPts val="0"/>
              </a:spcAft>
            </a:pPr>
            <a:r>
              <a:rPr sz="1150" b="0">
                <a:solidFill>
                  <a:srgbClr val="E2EFFF"/>
                </a:solidFill>
                <a:latin typeface="Segoe UI"/>
              </a:rPr>
              <a:t>“Mask dùng để chặn mô hình nhìn vào các token không được phép — ví dụ token tương lai.”</a:t>
            </a:r>
          </a:p>
        </p:txBody>
      </p:sp>
      <p:sp>
        <p:nvSpPr>
          <p:cNvPr id="89" name="Rounded Rectangle 88"/>
          <p:cNvSpPr/>
          <p:nvPr/>
        </p:nvSpPr>
        <p:spPr>
          <a:xfrm>
            <a:off x="8211311" y="5440680"/>
            <a:ext cx="2109216" cy="384048"/>
          </a:xfrm>
          <a:prstGeom prst="roundRect">
            <a:avLst>
              <a:gd name="adj" fmla="val 28000"/>
            </a:avLst>
          </a:prstGeom>
          <a:solidFill>
            <a:srgbClr val="0837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ounded Rectangle 89"/>
          <p:cNvSpPr/>
          <p:nvPr/>
        </p:nvSpPr>
        <p:spPr>
          <a:xfrm>
            <a:off x="8211311" y="5376672"/>
            <a:ext cx="2109216" cy="384048"/>
          </a:xfrm>
          <a:prstGeom prst="roundRect">
            <a:avLst>
              <a:gd name="adj" fmla="val 28000"/>
            </a:avLst>
          </a:prstGeom>
          <a:gradFill rotWithShape="1">
            <a:gsLst>
              <a:gs pos="0">
                <a:srgbClr val="2386FF"/>
              </a:gs>
              <a:gs pos="100000">
                <a:srgbClr val="134D8B"/>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150" b="1">
                <a:solidFill>
                  <a:srgbClr val="FFFFFF"/>
                </a:solidFill>
                <a:latin typeface="Segoe UI"/>
              </a:rPr>
              <a:t>Đăng ngay tại slide 14</a:t>
            </a:r>
          </a:p>
        </p:txBody>
      </p:sp>
      <p:sp>
        <p:nvSpPr>
          <p:cNvPr id="91" name="Freeform 90"/>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95" name="TextBox 94"/>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Teacher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08. VAI TRÒ CỦA AI</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09</a:t>
            </a:r>
          </a:p>
        </p:txBody>
      </p:sp>
      <p:sp>
        <p:nvSpPr>
          <p:cNvPr id="7" name="TextBox 6"/>
          <p:cNvSpPr txBox="1"/>
          <p:nvPr/>
        </p:nvSpPr>
        <p:spPr>
          <a:xfrm>
            <a:off x="749808" y="1188720"/>
            <a:ext cx="5486400" cy="1051560"/>
          </a:xfrm>
          <a:prstGeom prst="rect">
            <a:avLst/>
          </a:prstGeom>
          <a:noFill/>
        </p:spPr>
        <p:txBody>
          <a:bodyPr wrap="square" lIns="0" rIns="0" tIns="0" bIns="0" anchor="t">
            <a:spAutoFit/>
          </a:bodyPr>
          <a:lstStyle/>
          <a:p>
            <a:pPr algn="l">
              <a:lnSpc>
                <a:spcPct val="108000"/>
              </a:lnSpc>
              <a:spcBef>
                <a:spcPts val="0"/>
              </a:spcBef>
              <a:spcAft>
                <a:spcPts val="0"/>
              </a:spcAft>
            </a:pPr>
            <a:r>
              <a:rPr sz="3000" b="1">
                <a:solidFill>
                  <a:srgbClr val="061B49"/>
                </a:solidFill>
                <a:latin typeface="Segoe UI"/>
              </a:rPr>
              <a:t>AI đứng phía sau,
không đứng phía trước.</a:t>
            </a:r>
          </a:p>
        </p:txBody>
      </p:sp>
      <p:sp>
        <p:nvSpPr>
          <p:cNvPr id="8" name="TextBox 7"/>
          <p:cNvSpPr txBox="1"/>
          <p:nvPr/>
        </p:nvSpPr>
        <p:spPr>
          <a:xfrm>
            <a:off x="749808" y="2377440"/>
            <a:ext cx="5303520" cy="82296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Chúng em không thêm một chatbot nữa vào lớp học. AI xử lý tín hiệu để giảng viên ra quyết định nhanh hơn.</a:t>
            </a:r>
          </a:p>
        </p:txBody>
      </p:sp>
      <p:sp>
        <p:nvSpPr>
          <p:cNvPr id="9" name="Rounded Rectangle 8"/>
          <p:cNvSpPr/>
          <p:nvPr/>
        </p:nvSpPr>
        <p:spPr>
          <a:xfrm>
            <a:off x="749808" y="3095244"/>
            <a:ext cx="2606040" cy="126187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3017520"/>
            <a:ext cx="2606040" cy="126187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950976" y="3264408"/>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950976" y="3218688"/>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13" name="TextBox 12"/>
          <p:cNvSpPr txBox="1"/>
          <p:nvPr/>
        </p:nvSpPr>
        <p:spPr>
          <a:xfrm>
            <a:off x="1435607" y="3218688"/>
            <a:ext cx="1719072" cy="950976"/>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Gom các câu hỏi giống nhau</a:t>
            </a:r>
          </a:p>
          <a:p>
            <a:pPr algn="l">
              <a:lnSpc>
                <a:spcPct val="130000"/>
              </a:lnSpc>
              <a:spcBef>
                <a:spcPts val="500"/>
              </a:spcBef>
              <a:spcAft>
                <a:spcPts val="0"/>
              </a:spcAft>
            </a:pPr>
            <a:r>
              <a:rPr sz="1050" b="0">
                <a:solidFill>
                  <a:srgbClr val="52657F"/>
                </a:solidFill>
                <a:latin typeface="Segoe UI"/>
              </a:rPr>
              <a:t>Nhiều câu hỏi rời rạc trở thành một vấn đề chung.</a:t>
            </a:r>
          </a:p>
        </p:txBody>
      </p:sp>
      <p:sp>
        <p:nvSpPr>
          <p:cNvPr id="14" name="Rounded Rectangle 13"/>
          <p:cNvSpPr/>
          <p:nvPr/>
        </p:nvSpPr>
        <p:spPr>
          <a:xfrm>
            <a:off x="3538728" y="3095244"/>
            <a:ext cx="2606040" cy="126187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3538728" y="3017520"/>
            <a:ext cx="2606040" cy="126187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739896" y="3264408"/>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739896" y="3218688"/>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18" name="TextBox 17"/>
          <p:cNvSpPr txBox="1"/>
          <p:nvPr/>
        </p:nvSpPr>
        <p:spPr>
          <a:xfrm>
            <a:off x="4224528" y="3218688"/>
            <a:ext cx="1719072" cy="950976"/>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Phát hiện nội dung gây khó</a:t>
            </a:r>
          </a:p>
          <a:p>
            <a:pPr algn="l">
              <a:lnSpc>
                <a:spcPct val="130000"/>
              </a:lnSpc>
              <a:spcBef>
                <a:spcPts val="500"/>
              </a:spcBef>
              <a:spcAft>
                <a:spcPts val="0"/>
              </a:spcAft>
            </a:pPr>
            <a:r>
              <a:rPr sz="1050" b="0">
                <a:solidFill>
                  <a:srgbClr val="52657F"/>
                </a:solidFill>
                <a:latin typeface="Segoe UI"/>
              </a:rPr>
              <a:t>Biết chính xác slide nào đang làm lớp chững lại.</a:t>
            </a:r>
          </a:p>
        </p:txBody>
      </p:sp>
      <p:sp>
        <p:nvSpPr>
          <p:cNvPr id="19" name="Rounded Rectangle 18"/>
          <p:cNvSpPr/>
          <p:nvPr/>
        </p:nvSpPr>
        <p:spPr>
          <a:xfrm>
            <a:off x="749808" y="4393692"/>
            <a:ext cx="2606040" cy="126187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749808" y="4315968"/>
            <a:ext cx="2606040" cy="126187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950976" y="4562855"/>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950976" y="4517136"/>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23" name="TextBox 22"/>
          <p:cNvSpPr txBox="1"/>
          <p:nvPr/>
        </p:nvSpPr>
        <p:spPr>
          <a:xfrm>
            <a:off x="1435607" y="4517136"/>
            <a:ext cx="1719072" cy="950976"/>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Tóm tắt tín hiệu từ cả lớp</a:t>
            </a:r>
          </a:p>
          <a:p>
            <a:pPr algn="l">
              <a:lnSpc>
                <a:spcPct val="130000"/>
              </a:lnSpc>
              <a:spcBef>
                <a:spcPts val="500"/>
              </a:spcBef>
              <a:spcAft>
                <a:spcPts val="0"/>
              </a:spcAft>
            </a:pPr>
            <a:r>
              <a:rPr sz="1050" b="0">
                <a:solidFill>
                  <a:srgbClr val="52657F"/>
                </a:solidFill>
                <a:latin typeface="Segoe UI"/>
              </a:rPr>
              <a:t>Pulse, poll, câu hỏi được gói lại thành một bức tranh.</a:t>
            </a:r>
          </a:p>
        </p:txBody>
      </p:sp>
      <p:sp>
        <p:nvSpPr>
          <p:cNvPr id="24" name="Rounded Rectangle 23"/>
          <p:cNvSpPr/>
          <p:nvPr/>
        </p:nvSpPr>
        <p:spPr>
          <a:xfrm>
            <a:off x="3538728" y="4393692"/>
            <a:ext cx="2606040" cy="126187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538728" y="4315968"/>
            <a:ext cx="2606040" cy="126187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739896" y="4562855"/>
            <a:ext cx="365760" cy="365760"/>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3739896" y="4517136"/>
            <a:ext cx="365760" cy="365760"/>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28" name="TextBox 27"/>
          <p:cNvSpPr txBox="1"/>
          <p:nvPr/>
        </p:nvSpPr>
        <p:spPr>
          <a:xfrm>
            <a:off x="4224528" y="4517136"/>
            <a:ext cx="1719072" cy="950976"/>
          </a:xfrm>
          <a:prstGeom prst="rect">
            <a:avLst/>
          </a:prstGeom>
          <a:noFill/>
        </p:spPr>
        <p:txBody>
          <a:bodyPr wrap="square" lIns="0" rIns="0" tIns="0" bIns="0" anchor="t">
            <a:spAutoFit/>
          </a:bodyPr>
          <a:lstStyle/>
          <a:p>
            <a:pPr algn="l">
              <a:lnSpc>
                <a:spcPct val="115000"/>
              </a:lnSpc>
              <a:spcBef>
                <a:spcPts val="0"/>
              </a:spcBef>
              <a:spcAft>
                <a:spcPts val="0"/>
              </a:spcAft>
            </a:pPr>
            <a:r>
              <a:rPr sz="1250" b="1">
                <a:solidFill>
                  <a:srgbClr val="0B2F55"/>
                </a:solidFill>
                <a:latin typeface="Segoe UI"/>
              </a:rPr>
              <a:t>Đề xuất thời điểm can thiệp</a:t>
            </a:r>
          </a:p>
          <a:p>
            <a:pPr algn="l">
              <a:lnSpc>
                <a:spcPct val="130000"/>
              </a:lnSpc>
              <a:spcBef>
                <a:spcPts val="500"/>
              </a:spcBef>
              <a:spcAft>
                <a:spcPts val="0"/>
              </a:spcAft>
            </a:pPr>
            <a:r>
              <a:rPr sz="1050" b="0">
                <a:solidFill>
                  <a:srgbClr val="52657F"/>
                </a:solidFill>
                <a:latin typeface="Segoe UI"/>
              </a:rPr>
              <a:t>Gợi ý khi nào nên dừng lại, khi nào nên đi tiếp.</a:t>
            </a:r>
          </a:p>
        </p:txBody>
      </p:sp>
      <p:sp>
        <p:nvSpPr>
          <p:cNvPr id="29" name="Rounded Rectangle 28"/>
          <p:cNvSpPr/>
          <p:nvPr/>
        </p:nvSpPr>
        <p:spPr>
          <a:xfrm>
            <a:off x="6446520" y="1266444"/>
            <a:ext cx="4995367" cy="2788920"/>
          </a:xfrm>
          <a:prstGeom prst="roundRect">
            <a:avLst>
              <a:gd name="adj" fmla="val 11000"/>
            </a:avLst>
          </a:prstGeom>
          <a:solidFill>
            <a:srgbClr val="8C11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446520" y="1188720"/>
            <a:ext cx="4995367" cy="2788920"/>
          </a:xfrm>
          <a:prstGeom prst="roundRect">
            <a:avLst>
              <a:gd name="adj" fmla="val 11000"/>
            </a:avLst>
          </a:prstGeom>
          <a:gradFill rotWithShape="1">
            <a:gsLst>
              <a:gs pos="0">
                <a:srgbClr val="FF393F"/>
              </a:gs>
              <a:gs pos="100000">
                <a:srgbClr val="841016"/>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03720" y="1499616"/>
            <a:ext cx="4080967"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FFDADB"/>
                </a:solidFill>
                <a:latin typeface="Segoe UI"/>
              </a:rPr>
              <a:t>GIỚI HẠN CỦA AI</a:t>
            </a:r>
          </a:p>
        </p:txBody>
      </p:sp>
      <p:sp>
        <p:nvSpPr>
          <p:cNvPr id="32" name="TextBox 31"/>
          <p:cNvSpPr txBox="1"/>
          <p:nvPr/>
        </p:nvSpPr>
        <p:spPr>
          <a:xfrm>
            <a:off x="6903720" y="1883664"/>
            <a:ext cx="365760" cy="384048"/>
          </a:xfrm>
          <a:prstGeom prst="rect">
            <a:avLst/>
          </a:prstGeom>
          <a:noFill/>
        </p:spPr>
        <p:txBody>
          <a:bodyPr wrap="square" lIns="0" rIns="0" tIns="0" bIns="0" anchor="t">
            <a:spAutoFit/>
          </a:bodyPr>
          <a:lstStyle/>
          <a:p>
            <a:pPr algn="l">
              <a:lnSpc>
                <a:spcPct val="120000"/>
              </a:lnSpc>
              <a:spcBef>
                <a:spcPts val="0"/>
              </a:spcBef>
              <a:spcAft>
                <a:spcPts val="0"/>
              </a:spcAft>
            </a:pPr>
            <a:r>
              <a:rPr sz="2000" b="1">
                <a:solidFill>
                  <a:srgbClr val="FFFFFF"/>
                </a:solidFill>
                <a:latin typeface="Segoe UI"/>
              </a:rPr>
              <a:t>×</a:t>
            </a:r>
          </a:p>
        </p:txBody>
      </p:sp>
      <p:sp>
        <p:nvSpPr>
          <p:cNvPr id="33" name="TextBox 32"/>
          <p:cNvSpPr txBox="1"/>
          <p:nvPr/>
        </p:nvSpPr>
        <p:spPr>
          <a:xfrm>
            <a:off x="7287768" y="1938528"/>
            <a:ext cx="3696919" cy="329184"/>
          </a:xfrm>
          <a:prstGeom prst="rect">
            <a:avLst/>
          </a:prstGeom>
          <a:noFill/>
        </p:spPr>
        <p:txBody>
          <a:bodyPr wrap="square" lIns="0" rIns="0" tIns="0" bIns="0" anchor="t">
            <a:spAutoFit/>
          </a:bodyPr>
          <a:lstStyle/>
          <a:p>
            <a:pPr algn="l">
              <a:lnSpc>
                <a:spcPct val="120000"/>
              </a:lnSpc>
              <a:spcBef>
                <a:spcPts val="0"/>
              </a:spcBef>
              <a:spcAft>
                <a:spcPts val="0"/>
              </a:spcAft>
            </a:pPr>
            <a:r>
              <a:rPr sz="1450" b="1">
                <a:solidFill>
                  <a:srgbClr val="FFFFFF"/>
                </a:solidFill>
                <a:latin typeface="Segoe UI"/>
              </a:rPr>
              <a:t>Không trả lời thay giảng viên</a:t>
            </a:r>
          </a:p>
        </p:txBody>
      </p:sp>
      <p:sp>
        <p:nvSpPr>
          <p:cNvPr id="34" name="TextBox 33"/>
          <p:cNvSpPr txBox="1"/>
          <p:nvPr/>
        </p:nvSpPr>
        <p:spPr>
          <a:xfrm>
            <a:off x="6903720" y="2450592"/>
            <a:ext cx="365760" cy="384048"/>
          </a:xfrm>
          <a:prstGeom prst="rect">
            <a:avLst/>
          </a:prstGeom>
          <a:noFill/>
        </p:spPr>
        <p:txBody>
          <a:bodyPr wrap="square" lIns="0" rIns="0" tIns="0" bIns="0" anchor="t">
            <a:spAutoFit/>
          </a:bodyPr>
          <a:lstStyle/>
          <a:p>
            <a:pPr algn="l">
              <a:lnSpc>
                <a:spcPct val="120000"/>
              </a:lnSpc>
              <a:spcBef>
                <a:spcPts val="0"/>
              </a:spcBef>
              <a:spcAft>
                <a:spcPts val="0"/>
              </a:spcAft>
            </a:pPr>
            <a:r>
              <a:rPr sz="2000" b="1">
                <a:solidFill>
                  <a:srgbClr val="FFFFFF"/>
                </a:solidFill>
                <a:latin typeface="Segoe UI"/>
              </a:rPr>
              <a:t>×</a:t>
            </a:r>
          </a:p>
        </p:txBody>
      </p:sp>
      <p:sp>
        <p:nvSpPr>
          <p:cNvPr id="35" name="TextBox 34"/>
          <p:cNvSpPr txBox="1"/>
          <p:nvPr/>
        </p:nvSpPr>
        <p:spPr>
          <a:xfrm>
            <a:off x="7287768" y="2505456"/>
            <a:ext cx="3696919" cy="329184"/>
          </a:xfrm>
          <a:prstGeom prst="rect">
            <a:avLst/>
          </a:prstGeom>
          <a:noFill/>
        </p:spPr>
        <p:txBody>
          <a:bodyPr wrap="square" lIns="0" rIns="0" tIns="0" bIns="0" anchor="t">
            <a:spAutoFit/>
          </a:bodyPr>
          <a:lstStyle/>
          <a:p>
            <a:pPr algn="l">
              <a:lnSpc>
                <a:spcPct val="120000"/>
              </a:lnSpc>
              <a:spcBef>
                <a:spcPts val="0"/>
              </a:spcBef>
              <a:spcAft>
                <a:spcPts val="0"/>
              </a:spcAft>
            </a:pPr>
            <a:r>
              <a:rPr sz="1450" b="1">
                <a:solidFill>
                  <a:srgbClr val="FFFFFF"/>
                </a:solidFill>
                <a:latin typeface="Segoe UI"/>
              </a:rPr>
              <a:t>Không tự chấm điểm cuối cùng</a:t>
            </a:r>
          </a:p>
        </p:txBody>
      </p:sp>
      <p:sp>
        <p:nvSpPr>
          <p:cNvPr id="36" name="TextBox 35"/>
          <p:cNvSpPr txBox="1"/>
          <p:nvPr/>
        </p:nvSpPr>
        <p:spPr>
          <a:xfrm>
            <a:off x="6903720" y="3017520"/>
            <a:ext cx="365760" cy="384048"/>
          </a:xfrm>
          <a:prstGeom prst="rect">
            <a:avLst/>
          </a:prstGeom>
          <a:noFill/>
        </p:spPr>
        <p:txBody>
          <a:bodyPr wrap="square" lIns="0" rIns="0" tIns="0" bIns="0" anchor="t">
            <a:spAutoFit/>
          </a:bodyPr>
          <a:lstStyle/>
          <a:p>
            <a:pPr algn="l">
              <a:lnSpc>
                <a:spcPct val="120000"/>
              </a:lnSpc>
              <a:spcBef>
                <a:spcPts val="0"/>
              </a:spcBef>
              <a:spcAft>
                <a:spcPts val="0"/>
              </a:spcAft>
            </a:pPr>
            <a:r>
              <a:rPr sz="2000" b="1">
                <a:solidFill>
                  <a:srgbClr val="FFFFFF"/>
                </a:solidFill>
                <a:latin typeface="Segoe UI"/>
              </a:rPr>
              <a:t>×</a:t>
            </a:r>
          </a:p>
        </p:txBody>
      </p:sp>
      <p:sp>
        <p:nvSpPr>
          <p:cNvPr id="37" name="TextBox 36"/>
          <p:cNvSpPr txBox="1"/>
          <p:nvPr/>
        </p:nvSpPr>
        <p:spPr>
          <a:xfrm>
            <a:off x="7287768" y="3072384"/>
            <a:ext cx="3696919" cy="329184"/>
          </a:xfrm>
          <a:prstGeom prst="rect">
            <a:avLst/>
          </a:prstGeom>
          <a:noFill/>
        </p:spPr>
        <p:txBody>
          <a:bodyPr wrap="square" lIns="0" rIns="0" tIns="0" bIns="0" anchor="t">
            <a:spAutoFit/>
          </a:bodyPr>
          <a:lstStyle/>
          <a:p>
            <a:pPr algn="l">
              <a:lnSpc>
                <a:spcPct val="120000"/>
              </a:lnSpc>
              <a:spcBef>
                <a:spcPts val="0"/>
              </a:spcBef>
              <a:spcAft>
                <a:spcPts val="0"/>
              </a:spcAft>
            </a:pPr>
            <a:r>
              <a:rPr sz="1450" b="1">
                <a:solidFill>
                  <a:srgbClr val="FFFFFF"/>
                </a:solidFill>
                <a:latin typeface="Segoe UI"/>
              </a:rPr>
              <a:t>Không âm thầm đánh giá sinh viên</a:t>
            </a:r>
          </a:p>
        </p:txBody>
      </p:sp>
      <p:sp>
        <p:nvSpPr>
          <p:cNvPr id="38" name="Rounded Rectangle 37"/>
          <p:cNvSpPr/>
          <p:nvPr/>
        </p:nvSpPr>
        <p:spPr>
          <a:xfrm>
            <a:off x="6446520" y="4329684"/>
            <a:ext cx="4995367" cy="141732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6446520" y="4251960"/>
            <a:ext cx="4995367" cy="141732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903720" y="4498848"/>
            <a:ext cx="4080967" cy="914400"/>
          </a:xfrm>
          <a:prstGeom prst="rect">
            <a:avLst/>
          </a:prstGeom>
          <a:noFill/>
        </p:spPr>
        <p:txBody>
          <a:bodyPr wrap="square" lIns="0" rIns="0" tIns="0" bIns="0" anchor="t">
            <a:spAutoFit/>
          </a:bodyPr>
          <a:lstStyle/>
          <a:p>
            <a:pPr algn="l">
              <a:lnSpc>
                <a:spcPct val="130000"/>
              </a:lnSpc>
              <a:spcBef>
                <a:spcPts val="0"/>
              </a:spcBef>
              <a:spcAft>
                <a:spcPts val="0"/>
              </a:spcAft>
            </a:pPr>
            <a:r>
              <a:rPr sz="1800" b="0">
                <a:solidFill>
                  <a:srgbClr val="30435E"/>
                </a:solidFill>
                <a:latin typeface="Segoe UI"/>
              </a:rPr>
              <a:t>Quyết định cuối cùng </a:t>
            </a:r>
            <a:r>
              <a:rPr sz="1800" b="1">
                <a:solidFill>
                  <a:srgbClr val="134D8B"/>
                </a:solidFill>
                <a:latin typeface="Segoe UI"/>
              </a:rPr>
              <a:t>vẫn thuộc về giảng viên.</a:t>
            </a:r>
          </a:p>
        </p:txBody>
      </p:sp>
      <p:sp>
        <p:nvSpPr>
          <p:cNvPr id="41" name="Freeform 40"/>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45" name="TextBox 44"/>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Human-in-the-loop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09. ƯU TIÊN TÍNH NĂNG</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10</a:t>
            </a:r>
          </a:p>
        </p:txBody>
      </p:sp>
      <p:sp>
        <p:nvSpPr>
          <p:cNvPr id="7" name="TextBox 6"/>
          <p:cNvSpPr txBox="1"/>
          <p:nvPr/>
        </p:nvSpPr>
        <p:spPr>
          <a:xfrm>
            <a:off x="749808" y="1188720"/>
            <a:ext cx="5394960" cy="1051560"/>
          </a:xfrm>
          <a:prstGeom prst="rect">
            <a:avLst/>
          </a:prstGeom>
          <a:noFill/>
        </p:spPr>
        <p:txBody>
          <a:bodyPr wrap="square" lIns="0" rIns="0" tIns="0" bIns="0" anchor="t">
            <a:spAutoFit/>
          </a:bodyPr>
          <a:lstStyle/>
          <a:p>
            <a:pPr algn="l">
              <a:lnSpc>
                <a:spcPct val="108000"/>
              </a:lnSpc>
              <a:spcBef>
                <a:spcPts val="0"/>
              </a:spcBef>
              <a:spcAft>
                <a:spcPts val="0"/>
              </a:spcAft>
            </a:pPr>
            <a:r>
              <a:rPr sz="2900" b="1">
                <a:solidFill>
                  <a:srgbClr val="061B49"/>
                </a:solidFill>
                <a:latin typeface="Segoe UI"/>
              </a:rPr>
              <a:t>MVP bám theo thứ tự
ưu tiên của người học.</a:t>
            </a:r>
          </a:p>
        </p:txBody>
      </p:sp>
      <p:sp>
        <p:nvSpPr>
          <p:cNvPr id="8" name="TextBox 7"/>
          <p:cNvSpPr txBox="1"/>
          <p:nvPr/>
        </p:nvSpPr>
        <p:spPr>
          <a:xfrm>
            <a:off x="749808" y="2359152"/>
            <a:ext cx="5257800" cy="77724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Khảo sát cho thấy nhu cầu tập trung vào hỗ trợ đúng lúc, không phải vào phần thưởng hay điểm thi đua.</a:t>
            </a:r>
          </a:p>
        </p:txBody>
      </p:sp>
      <p:sp>
        <p:nvSpPr>
          <p:cNvPr id="9" name="Rounded Rectangle 8"/>
          <p:cNvSpPr/>
          <p:nvPr/>
        </p:nvSpPr>
        <p:spPr>
          <a:xfrm>
            <a:off x="749808" y="3017520"/>
            <a:ext cx="310896" cy="310896"/>
          </a:xfrm>
          <a:prstGeom prst="roundRect">
            <a:avLst>
              <a:gd name="adj" fmla="val 30000"/>
            </a:avLst>
          </a:prstGeom>
          <a:solidFill>
            <a:srgbClr val="FF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C72127"/>
                </a:solidFill>
                <a:latin typeface="Segoe UI"/>
              </a:rPr>
              <a:t>×</a:t>
            </a:r>
          </a:p>
        </p:txBody>
      </p:sp>
      <p:sp>
        <p:nvSpPr>
          <p:cNvPr id="10" name="TextBox 9"/>
          <p:cNvSpPr txBox="1"/>
          <p:nvPr/>
        </p:nvSpPr>
        <p:spPr>
          <a:xfrm>
            <a:off x="1207007" y="3063239"/>
            <a:ext cx="3291840"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a:solidFill>
                  <a:srgbClr val="52657F"/>
                </a:solidFill>
                <a:latin typeface="Segoe UI"/>
              </a:rPr>
              <a:t>Không bảng xếp hạng</a:t>
            </a:r>
          </a:p>
        </p:txBody>
      </p:sp>
      <p:sp>
        <p:nvSpPr>
          <p:cNvPr id="11" name="Rounded Rectangle 10"/>
          <p:cNvSpPr/>
          <p:nvPr/>
        </p:nvSpPr>
        <p:spPr>
          <a:xfrm>
            <a:off x="749808" y="3529584"/>
            <a:ext cx="310896" cy="310896"/>
          </a:xfrm>
          <a:prstGeom prst="roundRect">
            <a:avLst>
              <a:gd name="adj" fmla="val 30000"/>
            </a:avLst>
          </a:prstGeom>
          <a:solidFill>
            <a:srgbClr val="FF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C72127"/>
                </a:solidFill>
                <a:latin typeface="Segoe UI"/>
              </a:rPr>
              <a:t>×</a:t>
            </a:r>
          </a:p>
        </p:txBody>
      </p:sp>
      <p:sp>
        <p:nvSpPr>
          <p:cNvPr id="12" name="TextBox 11"/>
          <p:cNvSpPr txBox="1"/>
          <p:nvPr/>
        </p:nvSpPr>
        <p:spPr>
          <a:xfrm>
            <a:off x="1207007" y="3575303"/>
            <a:ext cx="3291840"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a:solidFill>
                  <a:srgbClr val="52657F"/>
                </a:solidFill>
                <a:latin typeface="Segoe UI"/>
              </a:rPr>
              <a:t>Không badge</a:t>
            </a:r>
          </a:p>
        </p:txBody>
      </p:sp>
      <p:sp>
        <p:nvSpPr>
          <p:cNvPr id="13" name="Rounded Rectangle 12"/>
          <p:cNvSpPr/>
          <p:nvPr/>
        </p:nvSpPr>
        <p:spPr>
          <a:xfrm>
            <a:off x="749808" y="4041648"/>
            <a:ext cx="310896" cy="310896"/>
          </a:xfrm>
          <a:prstGeom prst="roundRect">
            <a:avLst>
              <a:gd name="adj" fmla="val 30000"/>
            </a:avLst>
          </a:prstGeom>
          <a:solidFill>
            <a:srgbClr val="FFE4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C72127"/>
                </a:solidFill>
                <a:latin typeface="Segoe UI"/>
              </a:rPr>
              <a:t>×</a:t>
            </a:r>
          </a:p>
        </p:txBody>
      </p:sp>
      <p:sp>
        <p:nvSpPr>
          <p:cNvPr id="14" name="TextBox 13"/>
          <p:cNvSpPr txBox="1"/>
          <p:nvPr/>
        </p:nvSpPr>
        <p:spPr>
          <a:xfrm>
            <a:off x="1207007" y="4087368"/>
            <a:ext cx="3291840"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a:solidFill>
                  <a:srgbClr val="52657F"/>
                </a:solidFill>
                <a:latin typeface="Segoe UI"/>
              </a:rPr>
              <a:t>Không AI làm mọi thứ</a:t>
            </a:r>
          </a:p>
        </p:txBody>
      </p:sp>
      <p:sp>
        <p:nvSpPr>
          <p:cNvPr id="15" name="TextBox 14"/>
          <p:cNvSpPr txBox="1"/>
          <p:nvPr/>
        </p:nvSpPr>
        <p:spPr>
          <a:xfrm>
            <a:off x="749808" y="4663440"/>
            <a:ext cx="5257800" cy="731520"/>
          </a:xfrm>
          <a:prstGeom prst="rect">
            <a:avLst/>
          </a:prstGeom>
          <a:noFill/>
        </p:spPr>
        <p:txBody>
          <a:bodyPr wrap="square" lIns="0" rIns="0" tIns="0" bIns="0" anchor="t">
            <a:spAutoFit/>
          </a:bodyPr>
          <a:lstStyle/>
          <a:p>
            <a:pPr algn="l">
              <a:lnSpc>
                <a:spcPct val="135000"/>
              </a:lnSpc>
              <a:spcBef>
                <a:spcPts val="0"/>
              </a:spcBef>
              <a:spcAft>
                <a:spcPts val="0"/>
              </a:spcAft>
            </a:pPr>
            <a:r>
              <a:rPr sz="1300" b="1">
                <a:solidFill>
                  <a:srgbClr val="134D8B"/>
                </a:solidFill>
                <a:latin typeface="Segoe UI"/>
              </a:rPr>
              <a:t>MVP chỉ tập trung vào vòng lặp quan trọng nhất của một tiết học.</a:t>
            </a:r>
          </a:p>
        </p:txBody>
      </p:sp>
      <p:sp>
        <p:nvSpPr>
          <p:cNvPr id="16" name="Rounded Rectangle 15"/>
          <p:cNvSpPr/>
          <p:nvPr/>
        </p:nvSpPr>
        <p:spPr>
          <a:xfrm>
            <a:off x="6446520" y="1248156"/>
            <a:ext cx="4995367" cy="3639312"/>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446520" y="1170432"/>
            <a:ext cx="4995367" cy="3639312"/>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830568" y="1426464"/>
            <a:ext cx="4227271" cy="256032"/>
          </a:xfrm>
          <a:prstGeom prst="rect">
            <a:avLst/>
          </a:prstGeom>
          <a:noFill/>
        </p:spPr>
        <p:txBody>
          <a:bodyPr wrap="square" lIns="0" rIns="0" tIns="0" bIns="0" anchor="t">
            <a:spAutoFit/>
          </a:bodyPr>
          <a:lstStyle/>
          <a:p>
            <a:pPr algn="l">
              <a:lnSpc>
                <a:spcPct val="120000"/>
              </a:lnSpc>
              <a:spcBef>
                <a:spcPts val="0"/>
              </a:spcBef>
              <a:spcAft>
                <a:spcPts val="0"/>
              </a:spcAft>
            </a:pPr>
            <a:r>
              <a:rPr sz="1000" b="1" spc="80">
                <a:solidFill>
                  <a:srgbClr val="506680"/>
                </a:solidFill>
                <a:latin typeface="Segoe UI"/>
              </a:rPr>
              <a:t>MỨC ĐỘ ƯU TIÊN THEO KHẢO SÁT</a:t>
            </a:r>
          </a:p>
        </p:txBody>
      </p:sp>
      <p:sp>
        <p:nvSpPr>
          <p:cNvPr id="19" name="TextBox 18"/>
          <p:cNvSpPr txBox="1"/>
          <p:nvPr/>
        </p:nvSpPr>
        <p:spPr>
          <a:xfrm>
            <a:off x="6830568" y="1847088"/>
            <a:ext cx="348660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Gợi ý / hỗ trợ cá nhân khi gặp lỗi</a:t>
            </a:r>
          </a:p>
        </p:txBody>
      </p:sp>
      <p:sp>
        <p:nvSpPr>
          <p:cNvPr id="20" name="TextBox 19"/>
          <p:cNvSpPr txBox="1"/>
          <p:nvPr/>
        </p:nvSpPr>
        <p:spPr>
          <a:xfrm>
            <a:off x="10298887" y="1865376"/>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050" b="1">
                <a:solidFill>
                  <a:srgbClr val="134D8B"/>
                </a:solidFill>
                <a:latin typeface="Segoe UI"/>
              </a:rPr>
              <a:t>Cao nhất</a:t>
            </a:r>
          </a:p>
        </p:txBody>
      </p:sp>
      <p:sp>
        <p:nvSpPr>
          <p:cNvPr id="21" name="Rounded Rectangle 20"/>
          <p:cNvSpPr/>
          <p:nvPr/>
        </p:nvSpPr>
        <p:spPr>
          <a:xfrm>
            <a:off x="6830568" y="2176272"/>
            <a:ext cx="4227271" cy="146304"/>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830568" y="2176272"/>
            <a:ext cx="4015907" cy="146304"/>
          </a:xfrm>
          <a:prstGeom prst="roundRect">
            <a:avLst>
              <a:gd name="adj" fmla="val 50000"/>
            </a:avLst>
          </a:prstGeom>
          <a:gradFill rotWithShape="1">
            <a:gsLst>
              <a:gs pos="0">
                <a:srgbClr val="0F7DF0"/>
              </a:gs>
              <a:gs pos="100000">
                <a:srgbClr val="134D8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30568" y="2624328"/>
            <a:ext cx="348660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Cảnh báo giảng viên khi lớp gặp khó</a:t>
            </a:r>
          </a:p>
        </p:txBody>
      </p:sp>
      <p:sp>
        <p:nvSpPr>
          <p:cNvPr id="24" name="TextBox 23"/>
          <p:cNvSpPr txBox="1"/>
          <p:nvPr/>
        </p:nvSpPr>
        <p:spPr>
          <a:xfrm>
            <a:off x="10298887" y="2642616"/>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050" b="1">
                <a:solidFill>
                  <a:srgbClr val="134D8B"/>
                </a:solidFill>
                <a:latin typeface="Segoe UI"/>
              </a:rPr>
              <a:t>Cao</a:t>
            </a:r>
          </a:p>
        </p:txBody>
      </p:sp>
      <p:sp>
        <p:nvSpPr>
          <p:cNvPr id="25" name="Rounded Rectangle 24"/>
          <p:cNvSpPr/>
          <p:nvPr/>
        </p:nvSpPr>
        <p:spPr>
          <a:xfrm>
            <a:off x="6830568" y="2953512"/>
            <a:ext cx="4227271" cy="146304"/>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830568" y="2953512"/>
            <a:ext cx="3466362" cy="146304"/>
          </a:xfrm>
          <a:prstGeom prst="roundRect">
            <a:avLst>
              <a:gd name="adj" fmla="val 50000"/>
            </a:avLst>
          </a:prstGeom>
          <a:gradFill rotWithShape="1">
            <a:gsLst>
              <a:gs pos="0">
                <a:srgbClr val="0F7DF0"/>
              </a:gs>
              <a:gs pos="100000">
                <a:srgbClr val="134D8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30568" y="3401568"/>
            <a:ext cx="348660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0B2F55"/>
                </a:solidFill>
                <a:latin typeface="Segoe UI"/>
              </a:rPr>
              <a:t>Quiz &amp; poll nhanh trong giờ học</a:t>
            </a:r>
          </a:p>
        </p:txBody>
      </p:sp>
      <p:sp>
        <p:nvSpPr>
          <p:cNvPr id="28" name="TextBox 27"/>
          <p:cNvSpPr txBox="1"/>
          <p:nvPr/>
        </p:nvSpPr>
        <p:spPr>
          <a:xfrm>
            <a:off x="10298887" y="3419856"/>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050" b="1">
                <a:solidFill>
                  <a:srgbClr val="134D8B"/>
                </a:solidFill>
                <a:latin typeface="Segoe UI"/>
              </a:rPr>
              <a:t>Rõ ràng</a:t>
            </a:r>
          </a:p>
        </p:txBody>
      </p:sp>
      <p:sp>
        <p:nvSpPr>
          <p:cNvPr id="29" name="Rounded Rectangle 28"/>
          <p:cNvSpPr/>
          <p:nvPr/>
        </p:nvSpPr>
        <p:spPr>
          <a:xfrm>
            <a:off x="6830568" y="3730752"/>
            <a:ext cx="4227271" cy="146304"/>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830568" y="3730752"/>
            <a:ext cx="2789998" cy="146304"/>
          </a:xfrm>
          <a:prstGeom prst="roundRect">
            <a:avLst>
              <a:gd name="adj" fmla="val 50000"/>
            </a:avLst>
          </a:prstGeom>
          <a:gradFill rotWithShape="1">
            <a:gsLst>
              <a:gs pos="0">
                <a:srgbClr val="FFBC54"/>
              </a:gs>
              <a:gs pos="100000">
                <a:srgbClr val="F59E0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830568" y="4178808"/>
            <a:ext cx="3486607" cy="274320"/>
          </a:xfrm>
          <a:prstGeom prst="rect">
            <a:avLst/>
          </a:prstGeom>
          <a:noFill/>
        </p:spPr>
        <p:txBody>
          <a:bodyPr wrap="square" lIns="0" rIns="0" tIns="0" bIns="0" anchor="t">
            <a:spAutoFit/>
          </a:bodyPr>
          <a:lstStyle/>
          <a:p>
            <a:pPr algn="l">
              <a:lnSpc>
                <a:spcPct val="120000"/>
              </a:lnSpc>
              <a:spcBef>
                <a:spcPts val="0"/>
              </a:spcBef>
              <a:spcAft>
                <a:spcPts val="0"/>
              </a:spcAft>
            </a:pPr>
            <a:r>
              <a:rPr sz="1200" b="1">
                <a:solidFill>
                  <a:srgbClr val="52657F"/>
                </a:solidFill>
                <a:latin typeface="Segoe UI"/>
              </a:rPr>
              <a:t>Gamification (badge, xếp hạng)</a:t>
            </a:r>
          </a:p>
        </p:txBody>
      </p:sp>
      <p:sp>
        <p:nvSpPr>
          <p:cNvPr id="32" name="TextBox 31"/>
          <p:cNvSpPr txBox="1"/>
          <p:nvPr/>
        </p:nvSpPr>
        <p:spPr>
          <a:xfrm>
            <a:off x="10298887" y="4197096"/>
            <a:ext cx="758952" cy="256032"/>
          </a:xfrm>
          <a:prstGeom prst="rect">
            <a:avLst/>
          </a:prstGeom>
          <a:noFill/>
        </p:spPr>
        <p:txBody>
          <a:bodyPr wrap="square" lIns="0" rIns="0" tIns="0" bIns="0" anchor="t">
            <a:spAutoFit/>
          </a:bodyPr>
          <a:lstStyle/>
          <a:p>
            <a:pPr algn="r">
              <a:lnSpc>
                <a:spcPct val="120000"/>
              </a:lnSpc>
              <a:spcBef>
                <a:spcPts val="0"/>
              </a:spcBef>
              <a:spcAft>
                <a:spcPts val="0"/>
              </a:spcAft>
            </a:pPr>
            <a:r>
              <a:rPr sz="1050" b="1">
                <a:solidFill>
                  <a:srgbClr val="52657F"/>
                </a:solidFill>
                <a:latin typeface="Segoe UI"/>
              </a:rPr>
              <a:t>Rất thấp</a:t>
            </a:r>
          </a:p>
        </p:txBody>
      </p:sp>
      <p:sp>
        <p:nvSpPr>
          <p:cNvPr id="33" name="Rounded Rectangle 32"/>
          <p:cNvSpPr/>
          <p:nvPr/>
        </p:nvSpPr>
        <p:spPr>
          <a:xfrm>
            <a:off x="6830568" y="4507992"/>
            <a:ext cx="4227271" cy="146304"/>
          </a:xfrm>
          <a:prstGeom prst="roundRect">
            <a:avLst>
              <a:gd name="adj" fmla="val 5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6830568" y="4507992"/>
            <a:ext cx="760908" cy="146304"/>
          </a:xfrm>
          <a:prstGeom prst="roundRect">
            <a:avLst>
              <a:gd name="adj" fmla="val 50000"/>
            </a:avLst>
          </a:prstGeom>
          <a:solidFill>
            <a:srgbClr val="C3D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749808" y="5106924"/>
            <a:ext cx="10692079" cy="914400"/>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749808" y="5029200"/>
            <a:ext cx="10692079" cy="914400"/>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115568" y="5285232"/>
            <a:ext cx="2032939" cy="457200"/>
          </a:xfrm>
          <a:prstGeom prst="rect">
            <a:avLst/>
          </a:prstGeom>
          <a:noFill/>
        </p:spPr>
        <p:txBody>
          <a:bodyPr wrap="square" lIns="0" rIns="0" tIns="0" bIns="0" anchor="t">
            <a:spAutoFit/>
          </a:bodyPr>
          <a:lstStyle/>
          <a:p>
            <a:pPr algn="ctr">
              <a:lnSpc>
                <a:spcPct val="120000"/>
              </a:lnSpc>
              <a:spcBef>
                <a:spcPts val="0"/>
              </a:spcBef>
              <a:spcAft>
                <a:spcPts val="0"/>
              </a:spcAft>
            </a:pPr>
            <a:r>
              <a:rPr sz="1200" b="1">
                <a:solidFill>
                  <a:srgbClr val="FFFFFF"/>
                </a:solidFill>
                <a:latin typeface="Segoe UI"/>
              </a:rPr>
              <a:t>Sinh viên thể hiện khó khăn</a:t>
            </a:r>
          </a:p>
        </p:txBody>
      </p:sp>
      <p:sp>
        <p:nvSpPr>
          <p:cNvPr id="38" name="Right Arrow 37"/>
          <p:cNvSpPr/>
          <p:nvPr/>
        </p:nvSpPr>
        <p:spPr>
          <a:xfrm>
            <a:off x="3221659" y="5394960"/>
            <a:ext cx="219456" cy="164592"/>
          </a:xfrm>
          <a:prstGeom prst="rightArrow">
            <a:avLst>
              <a:gd name="adj1" fmla="val 42000"/>
              <a:gd name="adj2" fmla="val 55000"/>
            </a:avLst>
          </a:prstGeom>
          <a:solidFill>
            <a:srgbClr val="8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05707" y="5285232"/>
            <a:ext cx="2032939" cy="457200"/>
          </a:xfrm>
          <a:prstGeom prst="rect">
            <a:avLst/>
          </a:prstGeom>
          <a:noFill/>
        </p:spPr>
        <p:txBody>
          <a:bodyPr wrap="square" lIns="0" rIns="0" tIns="0" bIns="0" anchor="t">
            <a:spAutoFit/>
          </a:bodyPr>
          <a:lstStyle/>
          <a:p>
            <a:pPr algn="ctr">
              <a:lnSpc>
                <a:spcPct val="120000"/>
              </a:lnSpc>
              <a:spcBef>
                <a:spcPts val="0"/>
              </a:spcBef>
              <a:spcAft>
                <a:spcPts val="0"/>
              </a:spcAft>
            </a:pPr>
            <a:r>
              <a:rPr sz="1200" b="1">
                <a:solidFill>
                  <a:srgbClr val="FFFFFF"/>
                </a:solidFill>
                <a:latin typeface="Segoe UI"/>
              </a:rPr>
              <a:t>Giảng viên nhìn thấy</a:t>
            </a:r>
          </a:p>
        </p:txBody>
      </p:sp>
      <p:sp>
        <p:nvSpPr>
          <p:cNvPr id="40" name="Right Arrow 39"/>
          <p:cNvSpPr/>
          <p:nvPr/>
        </p:nvSpPr>
        <p:spPr>
          <a:xfrm>
            <a:off x="5711799" y="5394960"/>
            <a:ext cx="219456" cy="164592"/>
          </a:xfrm>
          <a:prstGeom prst="rightArrow">
            <a:avLst>
              <a:gd name="adj1" fmla="val 42000"/>
              <a:gd name="adj2" fmla="val 55000"/>
            </a:avLst>
          </a:prstGeom>
          <a:solidFill>
            <a:srgbClr val="8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95847" y="5285232"/>
            <a:ext cx="2032939" cy="457200"/>
          </a:xfrm>
          <a:prstGeom prst="rect">
            <a:avLst/>
          </a:prstGeom>
          <a:noFill/>
        </p:spPr>
        <p:txBody>
          <a:bodyPr wrap="square" lIns="0" rIns="0" tIns="0" bIns="0" anchor="t">
            <a:spAutoFit/>
          </a:bodyPr>
          <a:lstStyle/>
          <a:p>
            <a:pPr algn="ctr">
              <a:lnSpc>
                <a:spcPct val="120000"/>
              </a:lnSpc>
              <a:spcBef>
                <a:spcPts val="0"/>
              </a:spcBef>
              <a:spcAft>
                <a:spcPts val="0"/>
              </a:spcAft>
            </a:pPr>
            <a:r>
              <a:rPr sz="1200" b="1">
                <a:solidFill>
                  <a:srgbClr val="FFFFFF"/>
                </a:solidFill>
                <a:latin typeface="Segoe UI"/>
              </a:rPr>
              <a:t>Tương tác xảy ra</a:t>
            </a:r>
          </a:p>
        </p:txBody>
      </p:sp>
      <p:sp>
        <p:nvSpPr>
          <p:cNvPr id="42" name="Right Arrow 41"/>
          <p:cNvSpPr/>
          <p:nvPr/>
        </p:nvSpPr>
        <p:spPr>
          <a:xfrm>
            <a:off x="8201939" y="5394960"/>
            <a:ext cx="219456" cy="164592"/>
          </a:xfrm>
          <a:prstGeom prst="rightArrow">
            <a:avLst>
              <a:gd name="adj1" fmla="val 42000"/>
              <a:gd name="adj2" fmla="val 55000"/>
            </a:avLst>
          </a:prstGeom>
          <a:solidFill>
            <a:srgbClr val="8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85987" y="5285232"/>
            <a:ext cx="2032939" cy="457200"/>
          </a:xfrm>
          <a:prstGeom prst="rect">
            <a:avLst/>
          </a:prstGeom>
          <a:noFill/>
        </p:spPr>
        <p:txBody>
          <a:bodyPr wrap="square" lIns="0" rIns="0" tIns="0" bIns="0" anchor="t">
            <a:spAutoFit/>
          </a:bodyPr>
          <a:lstStyle/>
          <a:p>
            <a:pPr algn="ctr">
              <a:lnSpc>
                <a:spcPct val="120000"/>
              </a:lnSpc>
              <a:spcBef>
                <a:spcPts val="0"/>
              </a:spcBef>
              <a:spcAft>
                <a:spcPts val="0"/>
              </a:spcAft>
            </a:pPr>
            <a:r>
              <a:rPr sz="1200" b="1">
                <a:solidFill>
                  <a:srgbClr val="FFFFFF"/>
                </a:solidFill>
                <a:latin typeface="Segoe UI"/>
              </a:rPr>
              <a:t>Sinh viên xác nhận đã hiểu</a:t>
            </a:r>
          </a:p>
        </p:txBody>
      </p:sp>
      <p:sp>
        <p:nvSpPr>
          <p:cNvPr id="44" name="Freeform 43"/>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48" name="TextBox 47"/>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MVP scope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10. GIÁ TRỊ</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11</a:t>
            </a:r>
          </a:p>
        </p:txBody>
      </p:sp>
      <p:sp>
        <p:nvSpPr>
          <p:cNvPr id="7" name="TextBox 6"/>
          <p:cNvSpPr txBox="1"/>
          <p:nvPr/>
        </p:nvSpPr>
        <p:spPr>
          <a:xfrm>
            <a:off x="749808" y="1188720"/>
            <a:ext cx="10607040" cy="960120"/>
          </a:xfrm>
          <a:prstGeom prst="rect">
            <a:avLst/>
          </a:prstGeom>
          <a:noFill/>
        </p:spPr>
        <p:txBody>
          <a:bodyPr wrap="square" lIns="0" rIns="0" tIns="0" bIns="0" anchor="t">
            <a:spAutoFit/>
          </a:bodyPr>
          <a:lstStyle/>
          <a:p>
            <a:pPr algn="l">
              <a:lnSpc>
                <a:spcPct val="108000"/>
              </a:lnSpc>
              <a:spcBef>
                <a:spcPts val="0"/>
              </a:spcBef>
              <a:spcAft>
                <a:spcPts val="0"/>
              </a:spcAft>
            </a:pPr>
            <a:r>
              <a:rPr sz="2900" b="1">
                <a:solidFill>
                  <a:srgbClr val="061B49"/>
                </a:solidFill>
                <a:latin typeface="Segoe UI"/>
              </a:rPr>
              <a:t>Một màn hình đọc PDF thụ động trở thành
không gian học có tương tác.</a:t>
            </a:r>
          </a:p>
        </p:txBody>
      </p:sp>
      <p:sp>
        <p:nvSpPr>
          <p:cNvPr id="8" name="TextBox 7"/>
          <p:cNvSpPr txBox="1"/>
          <p:nvPr/>
        </p:nvSpPr>
        <p:spPr>
          <a:xfrm>
            <a:off x="749808" y="2304288"/>
            <a:ext cx="9692640" cy="457200"/>
          </a:xfrm>
          <a:prstGeom prst="rect">
            <a:avLst/>
          </a:prstGeom>
          <a:noFill/>
        </p:spPr>
        <p:txBody>
          <a:bodyPr wrap="square" lIns="0" rIns="0" tIns="0" bIns="0" anchor="t">
            <a:spAutoFit/>
          </a:bodyPr>
          <a:lstStyle/>
          <a:p>
            <a:pPr algn="l">
              <a:lnSpc>
                <a:spcPct val="142000"/>
              </a:lnSpc>
              <a:spcBef>
                <a:spcPts val="0"/>
              </a:spcBef>
              <a:spcAft>
                <a:spcPts val="0"/>
              </a:spcAft>
            </a:pPr>
            <a:r>
              <a:rPr sz="1350" b="1">
                <a:solidFill>
                  <a:srgbClr val="52657F"/>
                </a:solidFill>
                <a:latin typeface="Segoe UI"/>
              </a:rPr>
              <a:t>Không thay đổi thói quen giảng dạy hiện tại, không yêu cầu nhà trường xây lại hệ thống.</a:t>
            </a:r>
          </a:p>
        </p:txBody>
      </p:sp>
      <p:sp>
        <p:nvSpPr>
          <p:cNvPr id="9" name="Rounded Rectangle 8"/>
          <p:cNvSpPr/>
          <p:nvPr/>
        </p:nvSpPr>
        <p:spPr>
          <a:xfrm>
            <a:off x="749808" y="2802636"/>
            <a:ext cx="3411626" cy="1956816"/>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49808" y="2724912"/>
            <a:ext cx="3411626" cy="1956816"/>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1060704" y="3044951"/>
            <a:ext cx="402336" cy="402336"/>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1060704" y="2999232"/>
            <a:ext cx="402336" cy="402336"/>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13" name="TextBox 12"/>
          <p:cNvSpPr txBox="1"/>
          <p:nvPr/>
        </p:nvSpPr>
        <p:spPr>
          <a:xfrm>
            <a:off x="1060704" y="3529584"/>
            <a:ext cx="2789834" cy="1188720"/>
          </a:xfrm>
          <a:prstGeom prst="rect">
            <a:avLst/>
          </a:prstGeom>
          <a:noFill/>
        </p:spPr>
        <p:txBody>
          <a:bodyPr wrap="square" lIns="0" rIns="0" tIns="0" bIns="0" anchor="t">
            <a:spAutoFit/>
          </a:bodyPr>
          <a:lstStyle/>
          <a:p>
            <a:pPr algn="l">
              <a:lnSpc>
                <a:spcPct val="115000"/>
              </a:lnSpc>
              <a:spcBef>
                <a:spcPts val="0"/>
              </a:spcBef>
              <a:spcAft>
                <a:spcPts val="0"/>
              </a:spcAft>
            </a:pPr>
            <a:r>
              <a:rPr sz="1800" b="1">
                <a:solidFill>
                  <a:srgbClr val="0B2F55"/>
                </a:solidFill>
                <a:latin typeface="Segoe UI"/>
              </a:rPr>
              <a:t>Sinh viên</a:t>
            </a:r>
          </a:p>
          <a:p>
            <a:pPr algn="l">
              <a:lnSpc>
                <a:spcPct val="135000"/>
              </a:lnSpc>
              <a:spcBef>
                <a:spcPts val="800"/>
              </a:spcBef>
              <a:spcAft>
                <a:spcPts val="0"/>
              </a:spcAft>
            </a:pPr>
            <a:r>
              <a:rPr sz="1200" b="0">
                <a:solidFill>
                  <a:srgbClr val="52657F"/>
                </a:solidFill>
                <a:latin typeface="Segoe UI"/>
              </a:rPr>
              <a:t>Một cách an toàn để nói rằng mình chưa hiểu — không cần giơ tay trước cả lớp.</a:t>
            </a:r>
          </a:p>
        </p:txBody>
      </p:sp>
      <p:sp>
        <p:nvSpPr>
          <p:cNvPr id="14" name="Rounded Rectangle 13"/>
          <p:cNvSpPr/>
          <p:nvPr/>
        </p:nvSpPr>
        <p:spPr>
          <a:xfrm>
            <a:off x="4390034" y="2802636"/>
            <a:ext cx="3411626" cy="1956816"/>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390034" y="2724912"/>
            <a:ext cx="3411626" cy="1956816"/>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4700930" y="2999232"/>
            <a:ext cx="402336" cy="402336"/>
          </a:xfrm>
          <a:prstGeom prst="roundRect">
            <a:avLst>
              <a:gd name="adj" fmla="val 30000"/>
            </a:avLst>
          </a:prstGeom>
          <a:solidFill>
            <a:srgbClr val="2B88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400" b="1">
                <a:solidFill>
                  <a:srgbClr val="FFFFFF"/>
                </a:solidFill>
                <a:latin typeface="Segoe UI"/>
              </a:rPr>
              <a:t>✓</a:t>
            </a:r>
          </a:p>
        </p:txBody>
      </p:sp>
      <p:sp>
        <p:nvSpPr>
          <p:cNvPr id="17" name="TextBox 16"/>
          <p:cNvSpPr txBox="1"/>
          <p:nvPr/>
        </p:nvSpPr>
        <p:spPr>
          <a:xfrm>
            <a:off x="4700930" y="3529584"/>
            <a:ext cx="2789834" cy="1188720"/>
          </a:xfrm>
          <a:prstGeom prst="rect">
            <a:avLst/>
          </a:prstGeom>
          <a:noFill/>
        </p:spPr>
        <p:txBody>
          <a:bodyPr wrap="square" lIns="0" rIns="0" tIns="0" bIns="0" anchor="t">
            <a:spAutoFit/>
          </a:bodyPr>
          <a:lstStyle/>
          <a:p>
            <a:pPr algn="l">
              <a:lnSpc>
                <a:spcPct val="115000"/>
              </a:lnSpc>
              <a:spcBef>
                <a:spcPts val="0"/>
              </a:spcBef>
              <a:spcAft>
                <a:spcPts val="0"/>
              </a:spcAft>
            </a:pPr>
            <a:r>
              <a:rPr sz="1800" b="1">
                <a:solidFill>
                  <a:srgbClr val="FFFFFF"/>
                </a:solidFill>
                <a:latin typeface="Segoe UI"/>
              </a:rPr>
              <a:t>Giảng viên</a:t>
            </a:r>
          </a:p>
          <a:p>
            <a:pPr algn="l">
              <a:lnSpc>
                <a:spcPct val="135000"/>
              </a:lnSpc>
              <a:spcBef>
                <a:spcPts val="800"/>
              </a:spcBef>
              <a:spcAft>
                <a:spcPts val="0"/>
              </a:spcAft>
            </a:pPr>
            <a:r>
              <a:rPr sz="1200" b="0">
                <a:solidFill>
                  <a:srgbClr val="E2EFFF"/>
                </a:solidFill>
                <a:latin typeface="Segoe UI"/>
              </a:rPr>
              <a:t>Nhìn thấy trạng thái thật của lớp trước khi vấn đề biến thành điểm thấp.</a:t>
            </a:r>
          </a:p>
        </p:txBody>
      </p:sp>
      <p:sp>
        <p:nvSpPr>
          <p:cNvPr id="18" name="Rounded Rectangle 17"/>
          <p:cNvSpPr/>
          <p:nvPr/>
        </p:nvSpPr>
        <p:spPr>
          <a:xfrm>
            <a:off x="8030260" y="2802636"/>
            <a:ext cx="3411626" cy="1956816"/>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8030260" y="2724912"/>
            <a:ext cx="3411626" cy="1956816"/>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341156" y="3044951"/>
            <a:ext cx="402336" cy="402336"/>
          </a:xfrm>
          <a:prstGeom prst="roundRect">
            <a:avLst>
              <a:gd name="adj" fmla="val 30000"/>
            </a:avLst>
          </a:prstGeom>
          <a:solidFill>
            <a:srgbClr val="D8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341156" y="2999232"/>
            <a:ext cx="402336" cy="402336"/>
          </a:xfrm>
          <a:prstGeom prst="roundRect">
            <a:avLst>
              <a:gd name="adj" fmla="val 30000"/>
            </a:avLst>
          </a:prstGeom>
          <a:gradFill rotWithShape="1">
            <a:gsLst>
              <a:gs pos="0">
                <a:srgbClr val="FFFFFF"/>
              </a:gs>
              <a:gs pos="100000">
                <a:srgbClr val="EDF6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lnSpc>
                <a:spcPct val="115000"/>
              </a:lnSpc>
            </a:pPr>
            <a:r>
              <a:rPr sz="1400" b="1">
                <a:solidFill>
                  <a:srgbClr val="134D8B"/>
                </a:solidFill>
                <a:latin typeface="Segoe UI"/>
              </a:rPr>
              <a:t>✓</a:t>
            </a:r>
          </a:p>
        </p:txBody>
      </p:sp>
      <p:sp>
        <p:nvSpPr>
          <p:cNvPr id="22" name="TextBox 21"/>
          <p:cNvSpPr txBox="1"/>
          <p:nvPr/>
        </p:nvSpPr>
        <p:spPr>
          <a:xfrm>
            <a:off x="8341156" y="3529584"/>
            <a:ext cx="2789834" cy="1188720"/>
          </a:xfrm>
          <a:prstGeom prst="rect">
            <a:avLst/>
          </a:prstGeom>
          <a:noFill/>
        </p:spPr>
        <p:txBody>
          <a:bodyPr wrap="square" lIns="0" rIns="0" tIns="0" bIns="0" anchor="t">
            <a:spAutoFit/>
          </a:bodyPr>
          <a:lstStyle/>
          <a:p>
            <a:pPr algn="l">
              <a:lnSpc>
                <a:spcPct val="115000"/>
              </a:lnSpc>
              <a:spcBef>
                <a:spcPts val="0"/>
              </a:spcBef>
              <a:spcAft>
                <a:spcPts val="0"/>
              </a:spcAft>
            </a:pPr>
            <a:r>
              <a:rPr sz="1800" b="1">
                <a:solidFill>
                  <a:srgbClr val="0B2F55"/>
                </a:solidFill>
                <a:latin typeface="Segoe UI"/>
              </a:rPr>
              <a:t>Nhà trường</a:t>
            </a:r>
          </a:p>
          <a:p>
            <a:pPr algn="l">
              <a:lnSpc>
                <a:spcPct val="135000"/>
              </a:lnSpc>
              <a:spcBef>
                <a:spcPts val="800"/>
              </a:spcBef>
              <a:spcAft>
                <a:spcPts val="0"/>
              </a:spcAft>
            </a:pPr>
            <a:r>
              <a:rPr sz="1200" b="0">
                <a:solidFill>
                  <a:srgbClr val="52657F"/>
                </a:solidFill>
                <a:latin typeface="Segoe UI"/>
              </a:rPr>
              <a:t>Nâng cấp LMS hiện có mà không cần xây lại toàn bộ hệ thống.</a:t>
            </a:r>
          </a:p>
        </p:txBody>
      </p:sp>
      <p:sp>
        <p:nvSpPr>
          <p:cNvPr id="23" name="Rounded Rectangle 22"/>
          <p:cNvSpPr/>
          <p:nvPr/>
        </p:nvSpPr>
        <p:spPr>
          <a:xfrm>
            <a:off x="749808" y="5106924"/>
            <a:ext cx="10692079" cy="987552"/>
          </a:xfrm>
          <a:prstGeom prst="roundRect">
            <a:avLst>
              <a:gd name="adj" fmla="val 11000"/>
            </a:avLst>
          </a:prstGeom>
          <a:solidFill>
            <a:srgbClr val="B36A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49808" y="5029200"/>
            <a:ext cx="10692079" cy="987552"/>
          </a:xfrm>
          <a:prstGeom prst="roundRect">
            <a:avLst>
              <a:gd name="adj" fmla="val 11000"/>
            </a:avLst>
          </a:prstGeom>
          <a:gradFill rotWithShape="1">
            <a:gsLst>
              <a:gs pos="0">
                <a:srgbClr val="FFB13B"/>
              </a:gs>
              <a:gs pos="100000">
                <a:srgbClr val="C26F03"/>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207007" y="5248656"/>
            <a:ext cx="2743200" cy="365760"/>
          </a:xfrm>
          <a:prstGeom prst="rect">
            <a:avLst/>
          </a:prstGeom>
          <a:noFill/>
        </p:spPr>
        <p:txBody>
          <a:bodyPr wrap="square" lIns="0" rIns="0" tIns="0" bIns="0" anchor="t">
            <a:spAutoFit/>
          </a:bodyPr>
          <a:lstStyle/>
          <a:p>
            <a:pPr algn="l">
              <a:lnSpc>
                <a:spcPct val="120000"/>
              </a:lnSpc>
              <a:spcBef>
                <a:spcPts val="0"/>
              </a:spcBef>
              <a:spcAft>
                <a:spcPts val="0"/>
              </a:spcAft>
            </a:pPr>
            <a:r>
              <a:rPr sz="1800" b="1">
                <a:solidFill>
                  <a:srgbClr val="FFFFFF"/>
                </a:solidFill>
                <a:latin typeface="Segoe UI"/>
              </a:rPr>
              <a:t>North Star</a:t>
            </a:r>
          </a:p>
        </p:txBody>
      </p:sp>
      <p:sp>
        <p:nvSpPr>
          <p:cNvPr id="26" name="TextBox 25"/>
          <p:cNvSpPr txBox="1"/>
          <p:nvPr/>
        </p:nvSpPr>
        <p:spPr>
          <a:xfrm>
            <a:off x="4133088" y="5266944"/>
            <a:ext cx="6851599" cy="548640"/>
          </a:xfrm>
          <a:prstGeom prst="rect">
            <a:avLst/>
          </a:prstGeom>
          <a:noFill/>
        </p:spPr>
        <p:txBody>
          <a:bodyPr wrap="square" lIns="0" rIns="0" tIns="0" bIns="0" anchor="t">
            <a:spAutoFit/>
          </a:bodyPr>
          <a:lstStyle/>
          <a:p>
            <a:pPr algn="l">
              <a:lnSpc>
                <a:spcPct val="130000"/>
              </a:lnSpc>
              <a:spcBef>
                <a:spcPts val="0"/>
              </a:spcBef>
              <a:spcAft>
                <a:spcPts val="0"/>
              </a:spcAft>
            </a:pPr>
            <a:r>
              <a:rPr sz="1400" b="1">
                <a:solidFill>
                  <a:srgbClr val="FFFFFF"/>
                </a:solidFill>
                <a:latin typeface="Segoe UI"/>
              </a:rPr>
              <a:t>Tỷ lệ sinh viên xác nhận “đã hiểu” ngay trong buổi học, thay vì mang thắc mắc về nhà.</a:t>
            </a:r>
          </a:p>
        </p:txBody>
      </p:sp>
      <p:sp>
        <p:nvSpPr>
          <p:cNvPr id="27" name="Freeform 26"/>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31" name="TextBox 30"/>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Impact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71600" y="5394960"/>
            <a:ext cx="14934895" cy="3291840"/>
          </a:xfrm>
          <a:prstGeom prst="ellipse">
            <a:avLst/>
          </a:prstGeom>
          <a:gradFill rotWithShape="1">
            <a:gsLst>
              <a:gs pos="0">
                <a:srgbClr val="E6F2FF"/>
              </a:gs>
              <a:gs pos="100000">
                <a:srgbClr val="F7FBFF"/>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11. THÔNG ĐIỆP</a:t>
            </a:r>
          </a:p>
        </p:txBody>
      </p:sp>
      <p:sp>
        <p:nvSpPr>
          <p:cNvPr id="7" name="TextBox 6"/>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12</a:t>
            </a:r>
          </a:p>
        </p:txBody>
      </p:sp>
      <p:sp>
        <p:nvSpPr>
          <p:cNvPr id="8" name="Oval 7"/>
          <p:cNvSpPr/>
          <p:nvPr/>
        </p:nvSpPr>
        <p:spPr>
          <a:xfrm>
            <a:off x="9905695"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79431"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53167"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6903"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00639"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74375"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948111" y="1051560"/>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905695"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79431"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53167"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426903"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600639"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774375"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948111" y="1225295"/>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05695"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79431"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53167"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426903"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00639"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774375"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48111" y="1399031"/>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05695"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79431"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53167"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26903"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600639"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774375"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948111" y="1572768"/>
            <a:ext cx="45720" cy="45720"/>
          </a:xfrm>
          <a:prstGeom prst="ellipse">
            <a:avLst/>
          </a:prstGeom>
          <a:solidFill>
            <a:srgbClr val="BD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1874519"/>
            <a:ext cx="9692640" cy="868680"/>
          </a:xfrm>
          <a:prstGeom prst="rect">
            <a:avLst/>
          </a:prstGeom>
          <a:noFill/>
        </p:spPr>
        <p:txBody>
          <a:bodyPr wrap="square" lIns="0" rIns="0" tIns="0" bIns="0" anchor="t">
            <a:spAutoFit/>
          </a:bodyPr>
          <a:lstStyle/>
          <a:p>
            <a:pPr algn="l">
              <a:lnSpc>
                <a:spcPct val="100000"/>
              </a:lnSpc>
              <a:spcBef>
                <a:spcPts val="0"/>
              </a:spcBef>
              <a:spcAft>
                <a:spcPts val="0"/>
              </a:spcAft>
            </a:pPr>
            <a:r>
              <a:rPr sz="5600" b="1">
                <a:solidFill>
                  <a:srgbClr val="C9DFF9"/>
                </a:solidFill>
                <a:latin typeface="Segoe UI"/>
              </a:rPr>
              <a:t>“</a:t>
            </a:r>
          </a:p>
        </p:txBody>
      </p:sp>
      <p:sp>
        <p:nvSpPr>
          <p:cNvPr id="37" name="TextBox 36"/>
          <p:cNvSpPr txBox="1"/>
          <p:nvPr/>
        </p:nvSpPr>
        <p:spPr>
          <a:xfrm>
            <a:off x="749808" y="2487168"/>
            <a:ext cx="10607040" cy="1371600"/>
          </a:xfrm>
          <a:prstGeom prst="rect">
            <a:avLst/>
          </a:prstGeom>
          <a:noFill/>
        </p:spPr>
        <p:txBody>
          <a:bodyPr wrap="square" lIns="0" rIns="0" tIns="0" bIns="0" anchor="t">
            <a:spAutoFit/>
          </a:bodyPr>
          <a:lstStyle/>
          <a:p>
            <a:pPr algn="l">
              <a:lnSpc>
                <a:spcPct val="120000"/>
              </a:lnSpc>
              <a:spcBef>
                <a:spcPts val="0"/>
              </a:spcBef>
              <a:spcAft>
                <a:spcPts val="0"/>
              </a:spcAft>
            </a:pPr>
            <a:r>
              <a:rPr sz="2800" b="1">
                <a:solidFill>
                  <a:srgbClr val="061B49"/>
                </a:solidFill>
                <a:latin typeface="Segoe UI"/>
              </a:rPr>
              <a:t>Sinh viên không cần thêm một nơi để đọc tài liệu.</a:t>
            </a:r>
          </a:p>
          <a:p>
            <a:pPr algn="l">
              <a:lnSpc>
                <a:spcPct val="120000"/>
              </a:lnSpc>
              <a:spcBef>
                <a:spcPts val="800"/>
              </a:spcBef>
              <a:spcAft>
                <a:spcPts val="0"/>
              </a:spcAft>
            </a:pPr>
            <a:r>
              <a:rPr sz="2800" b="1">
                <a:solidFill>
                  <a:srgbClr val="061B49"/>
                </a:solidFill>
                <a:latin typeface="Segoe UI"/>
              </a:rPr>
              <a:t>Họ cần một cách để </a:t>
            </a:r>
            <a:r>
              <a:rPr sz="2800" b="1">
                <a:solidFill>
                  <a:srgbClr val="134D8B"/>
                </a:solidFill>
                <a:latin typeface="Segoe UI"/>
              </a:rPr>
              <a:t>được lắng nghe ngay trong lúc học.</a:t>
            </a:r>
          </a:p>
        </p:txBody>
      </p:sp>
      <p:sp>
        <p:nvSpPr>
          <p:cNvPr id="38" name="Rounded Rectangle 37"/>
          <p:cNvSpPr/>
          <p:nvPr/>
        </p:nvSpPr>
        <p:spPr>
          <a:xfrm>
            <a:off x="749808" y="4297680"/>
            <a:ext cx="1523238" cy="384048"/>
          </a:xfrm>
          <a:prstGeom prst="roundRect">
            <a:avLst>
              <a:gd name="adj" fmla="val 50000"/>
            </a:avLst>
          </a:prstGeom>
          <a:solidFill>
            <a:srgbClr val="FFFFFF"/>
          </a:solidFill>
          <a:ln w="12700">
            <a:solidFill>
              <a:srgbClr val="DCE9F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00" b="1">
                <a:solidFill>
                  <a:srgbClr val="134D8B"/>
                </a:solidFill>
                <a:latin typeface="Segoe UI"/>
              </a:rPr>
              <a:t>Learning Pulse</a:t>
            </a:r>
          </a:p>
        </p:txBody>
      </p:sp>
      <p:sp>
        <p:nvSpPr>
          <p:cNvPr id="39" name="Rounded Rectangle 38"/>
          <p:cNvSpPr/>
          <p:nvPr/>
        </p:nvSpPr>
        <p:spPr>
          <a:xfrm>
            <a:off x="2437637" y="4297680"/>
            <a:ext cx="1777188" cy="384048"/>
          </a:xfrm>
          <a:prstGeom prst="roundRect">
            <a:avLst>
              <a:gd name="adj" fmla="val 50000"/>
            </a:avLst>
          </a:prstGeom>
          <a:solidFill>
            <a:srgbClr val="EDF5FF"/>
          </a:solidFill>
          <a:ln w="12700">
            <a:solidFill>
              <a:srgbClr val="CDE0F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00" b="1">
                <a:solidFill>
                  <a:srgbClr val="134D8B"/>
                </a:solidFill>
                <a:latin typeface="Segoe UI"/>
              </a:rPr>
              <a:t>Poll &amp; Quiz nhanh</a:t>
            </a:r>
          </a:p>
        </p:txBody>
      </p:sp>
      <p:sp>
        <p:nvSpPr>
          <p:cNvPr id="40" name="Rounded Rectangle 39"/>
          <p:cNvSpPr/>
          <p:nvPr/>
        </p:nvSpPr>
        <p:spPr>
          <a:xfrm>
            <a:off x="4379418" y="4297680"/>
            <a:ext cx="1853437" cy="384048"/>
          </a:xfrm>
          <a:prstGeom prst="roundRect">
            <a:avLst>
              <a:gd name="adj" fmla="val 50000"/>
            </a:avLst>
          </a:prstGeom>
          <a:solidFill>
            <a:srgbClr val="FFFFFF"/>
          </a:solidFill>
          <a:ln w="12700">
            <a:solidFill>
              <a:srgbClr val="DCE9F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00" b="1">
                <a:solidFill>
                  <a:srgbClr val="134D8B"/>
                </a:solidFill>
                <a:latin typeface="Segoe UI"/>
              </a:rPr>
              <a:t>Hỏi riêng trợ giảng</a:t>
            </a:r>
          </a:p>
        </p:txBody>
      </p:sp>
      <p:sp>
        <p:nvSpPr>
          <p:cNvPr id="41" name="Rounded Rectangle 40"/>
          <p:cNvSpPr/>
          <p:nvPr/>
        </p:nvSpPr>
        <p:spPr>
          <a:xfrm>
            <a:off x="6397448" y="4297680"/>
            <a:ext cx="1558163" cy="384048"/>
          </a:xfrm>
          <a:prstGeom prst="roundRect">
            <a:avLst>
              <a:gd name="adj" fmla="val 50000"/>
            </a:avLst>
          </a:prstGeom>
          <a:solidFill>
            <a:srgbClr val="EDF5FF"/>
          </a:solidFill>
          <a:ln w="12700">
            <a:solidFill>
              <a:srgbClr val="CDE0F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00" b="1">
                <a:solidFill>
                  <a:srgbClr val="134D8B"/>
                </a:solidFill>
                <a:latin typeface="Segoe UI"/>
              </a:rPr>
              <a:t>AI gom câu hỏi</a:t>
            </a:r>
          </a:p>
        </p:txBody>
      </p:sp>
      <p:sp>
        <p:nvSpPr>
          <p:cNvPr id="42" name="Rounded Rectangle 41"/>
          <p:cNvSpPr/>
          <p:nvPr/>
        </p:nvSpPr>
        <p:spPr>
          <a:xfrm>
            <a:off x="8120203" y="4297680"/>
            <a:ext cx="1723263" cy="384048"/>
          </a:xfrm>
          <a:prstGeom prst="roundRect">
            <a:avLst>
              <a:gd name="adj" fmla="val 50000"/>
            </a:avLst>
          </a:prstGeom>
          <a:solidFill>
            <a:srgbClr val="FFFFFF"/>
          </a:solidFill>
          <a:ln w="12700">
            <a:solidFill>
              <a:srgbClr val="DCE9F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00" b="1">
                <a:solidFill>
                  <a:srgbClr val="134D8B"/>
                </a:solidFill>
                <a:latin typeface="Segoe UI"/>
              </a:rPr>
              <a:t>Clarification Card</a:t>
            </a:r>
          </a:p>
        </p:txBody>
      </p:sp>
      <p:sp>
        <p:nvSpPr>
          <p:cNvPr id="43" name="TextBox 42"/>
          <p:cNvSpPr txBox="1"/>
          <p:nvPr/>
        </p:nvSpPr>
        <p:spPr>
          <a:xfrm>
            <a:off x="749808" y="5074920"/>
            <a:ext cx="9966960" cy="457200"/>
          </a:xfrm>
          <a:prstGeom prst="rect">
            <a:avLst/>
          </a:prstGeom>
          <a:noFill/>
        </p:spPr>
        <p:txBody>
          <a:bodyPr wrap="square" lIns="0" rIns="0" tIns="0" bIns="0" anchor="t">
            <a:spAutoFit/>
          </a:bodyPr>
          <a:lstStyle/>
          <a:p>
            <a:pPr algn="l">
              <a:lnSpc>
                <a:spcPct val="120000"/>
              </a:lnSpc>
              <a:spcBef>
                <a:spcPts val="0"/>
              </a:spcBef>
              <a:spcAft>
                <a:spcPts val="0"/>
              </a:spcAft>
            </a:pPr>
            <a:r>
              <a:rPr sz="1400" b="1">
                <a:solidFill>
                  <a:srgbClr val="52657F"/>
                </a:solidFill>
                <a:latin typeface="Segoe UI"/>
              </a:rPr>
              <a:t>VLearn Interaction Layer — lớp tương tác đặt ngay trên học liệu hiện có.</a:t>
            </a:r>
          </a:p>
        </p:txBody>
      </p:sp>
      <p:sp>
        <p:nvSpPr>
          <p:cNvPr id="44" name="Freeform 43"/>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48" name="TextBox 47"/>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Thank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0" y="-274320"/>
            <a:ext cx="12740335" cy="7406640"/>
          </a:xfrm>
          <a:prstGeom prst="rect">
            <a:avLst/>
          </a:prstGeom>
          <a:gradFill rotWithShape="1">
            <a:gsLst>
              <a:gs pos="0">
                <a:srgbClr val="FFFFFF"/>
              </a:gs>
              <a:gs pos="100000">
                <a:srgbClr val="E9F2FE"/>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722815" y="-1828800"/>
            <a:ext cx="4297680" cy="4297680"/>
          </a:xfrm>
          <a:prstGeom prst="ellipse">
            <a:avLst/>
          </a:prstGeom>
          <a:gradFill rotWithShape="1">
            <a:gsLst>
              <a:gs pos="0">
                <a:srgbClr val="DFEEFF"/>
              </a:gs>
              <a:gs pos="100000">
                <a:srgbClr val="F3F9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94560" y="4663440"/>
            <a:ext cx="4297680" cy="4297680"/>
          </a:xfrm>
          <a:prstGeom prst="ellipse">
            <a:avLst/>
          </a:prstGeom>
          <a:gradFill rotWithShape="1">
            <a:gsLst>
              <a:gs pos="0">
                <a:srgbClr val="E1EEFE"/>
              </a:gs>
              <a:gs pos="100000">
                <a:srgbClr val="F5FAFF"/>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420624"/>
            <a:ext cx="7315200" cy="292608"/>
          </a:xfrm>
          <a:prstGeom prst="rect">
            <a:avLst/>
          </a:prstGeom>
          <a:noFill/>
        </p:spPr>
        <p:txBody>
          <a:bodyPr wrap="square" lIns="0" rIns="0" tIns="0" bIns="0" anchor="t">
            <a:spAutoFit/>
          </a:bodyPr>
          <a:lstStyle/>
          <a:p>
            <a:pPr algn="l">
              <a:lnSpc>
                <a:spcPct val="120000"/>
              </a:lnSpc>
              <a:spcBef>
                <a:spcPts val="0"/>
              </a:spcBef>
              <a:spcAft>
                <a:spcPts val="0"/>
              </a:spcAft>
            </a:pPr>
            <a:r>
              <a:rPr sz="1200" b="1" spc="90">
                <a:solidFill>
                  <a:srgbClr val="134D8B"/>
                </a:solidFill>
                <a:latin typeface="Segoe UI"/>
              </a:rPr>
              <a:t>12. TÓM TẮT 5 PHÚT</a:t>
            </a:r>
          </a:p>
        </p:txBody>
      </p:sp>
      <p:sp>
        <p:nvSpPr>
          <p:cNvPr id="6" name="TextBox 5"/>
          <p:cNvSpPr txBox="1"/>
          <p:nvPr/>
        </p:nvSpPr>
        <p:spPr>
          <a:xfrm>
            <a:off x="8698687" y="420624"/>
            <a:ext cx="2743200" cy="292608"/>
          </a:xfrm>
          <a:prstGeom prst="rect">
            <a:avLst/>
          </a:prstGeom>
          <a:noFill/>
        </p:spPr>
        <p:txBody>
          <a:bodyPr wrap="square" lIns="0" rIns="0" tIns="0" bIns="0" anchor="t">
            <a:spAutoFit/>
          </a:bodyPr>
          <a:lstStyle/>
          <a:p>
            <a:pPr algn="r">
              <a:lnSpc>
                <a:spcPct val="120000"/>
              </a:lnSpc>
              <a:spcBef>
                <a:spcPts val="0"/>
              </a:spcBef>
              <a:spcAft>
                <a:spcPts val="0"/>
              </a:spcAft>
            </a:pPr>
            <a:r>
              <a:rPr sz="1200" b="1">
                <a:solidFill>
                  <a:srgbClr val="93A9C5"/>
                </a:solidFill>
                <a:latin typeface="Segoe UI"/>
              </a:rPr>
              <a:t>13</a:t>
            </a:r>
          </a:p>
        </p:txBody>
      </p:sp>
      <p:sp>
        <p:nvSpPr>
          <p:cNvPr id="7" name="TextBox 6"/>
          <p:cNvSpPr txBox="1"/>
          <p:nvPr/>
        </p:nvSpPr>
        <p:spPr>
          <a:xfrm>
            <a:off x="749808" y="1143000"/>
            <a:ext cx="10607040" cy="530352"/>
          </a:xfrm>
          <a:prstGeom prst="rect">
            <a:avLst/>
          </a:prstGeom>
          <a:noFill/>
        </p:spPr>
        <p:txBody>
          <a:bodyPr wrap="square" lIns="0" rIns="0" tIns="0" bIns="0" anchor="t">
            <a:spAutoFit/>
          </a:bodyPr>
          <a:lstStyle/>
          <a:p>
            <a:pPr algn="l">
              <a:lnSpc>
                <a:spcPct val="108000"/>
              </a:lnSpc>
              <a:spcBef>
                <a:spcPts val="0"/>
              </a:spcBef>
              <a:spcAft>
                <a:spcPts val="0"/>
              </a:spcAft>
            </a:pPr>
            <a:r>
              <a:rPr sz="2900" b="1">
                <a:solidFill>
                  <a:srgbClr val="061B49"/>
                </a:solidFill>
                <a:latin typeface="Segoe UI"/>
              </a:rPr>
              <a:t>Toàn bộ câu chuyện trong một trang.</a:t>
            </a:r>
          </a:p>
        </p:txBody>
      </p:sp>
      <p:sp>
        <p:nvSpPr>
          <p:cNvPr id="8" name="Rounded Rectangle 7"/>
          <p:cNvSpPr/>
          <p:nvPr/>
        </p:nvSpPr>
        <p:spPr>
          <a:xfrm>
            <a:off x="749808" y="2089404"/>
            <a:ext cx="2501569"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749808" y="2011680"/>
            <a:ext cx="2501569"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24127" y="2304288"/>
            <a:ext cx="1952929" cy="1463040"/>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134D8B"/>
                </a:solidFill>
                <a:latin typeface="Segoe UI"/>
              </a:rPr>
              <a:t>VẤN ĐỀ</a:t>
            </a:r>
          </a:p>
          <a:p>
            <a:pPr algn="l">
              <a:lnSpc>
                <a:spcPct val="138000"/>
              </a:lnSpc>
              <a:spcBef>
                <a:spcPts val="1000"/>
              </a:spcBef>
              <a:spcAft>
                <a:spcPts val="0"/>
              </a:spcAft>
            </a:pPr>
            <a:r>
              <a:rPr sz="1250" b="0">
                <a:solidFill>
                  <a:srgbClr val="30435E"/>
                </a:solidFill>
                <a:latin typeface="Segoe UI"/>
              </a:rPr>
              <a:t>Sinh viên không nói ra khi chưa hiểu; giảng viên nhận ra quá muộn.</a:t>
            </a:r>
          </a:p>
        </p:txBody>
      </p:sp>
      <p:sp>
        <p:nvSpPr>
          <p:cNvPr id="11" name="Rounded Rectangle 10"/>
          <p:cNvSpPr/>
          <p:nvPr/>
        </p:nvSpPr>
        <p:spPr>
          <a:xfrm>
            <a:off x="3479977" y="2089404"/>
            <a:ext cx="2501569"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479977" y="2011680"/>
            <a:ext cx="2501569"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754297" y="2304288"/>
            <a:ext cx="1952929" cy="1463040"/>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134D8B"/>
                </a:solidFill>
                <a:latin typeface="Segoe UI"/>
              </a:rPr>
              <a:t>BẰNG CHỨNG</a:t>
            </a:r>
          </a:p>
          <a:p>
            <a:pPr algn="l">
              <a:lnSpc>
                <a:spcPct val="138000"/>
              </a:lnSpc>
              <a:spcBef>
                <a:spcPts val="1000"/>
              </a:spcBef>
              <a:spcAft>
                <a:spcPts val="0"/>
              </a:spcAft>
            </a:pPr>
            <a:r>
              <a:rPr sz="1250" b="0">
                <a:solidFill>
                  <a:srgbClr val="30435E"/>
                </a:solidFill>
                <a:latin typeface="Segoe UI"/>
              </a:rPr>
              <a:t>Khảo sát 36 SV: 88,9% tự hỏi ChatGPT; 55,6% chờ hơn 10 phút hoặc không được hỗ trợ.</a:t>
            </a:r>
          </a:p>
        </p:txBody>
      </p:sp>
      <p:sp>
        <p:nvSpPr>
          <p:cNvPr id="14" name="Rounded Rectangle 13"/>
          <p:cNvSpPr/>
          <p:nvPr/>
        </p:nvSpPr>
        <p:spPr>
          <a:xfrm>
            <a:off x="6210147" y="2089404"/>
            <a:ext cx="2501569" cy="1965960"/>
          </a:xfrm>
          <a:prstGeom prst="roundRect">
            <a:avLst>
              <a:gd name="adj" fmla="val 11000"/>
            </a:avLst>
          </a:prstGeom>
          <a:solidFill>
            <a:srgbClr val="072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210147" y="2011680"/>
            <a:ext cx="2501569" cy="1965960"/>
          </a:xfrm>
          <a:prstGeom prst="roundRect">
            <a:avLst>
              <a:gd name="adj" fmla="val 11000"/>
            </a:avLst>
          </a:prstGeom>
          <a:gradFill rotWithShape="1">
            <a:gsLst>
              <a:gs pos="0">
                <a:srgbClr val="0F64C7"/>
              </a:gs>
              <a:gs pos="100000">
                <a:srgbClr val="092C58"/>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84467" y="2304288"/>
            <a:ext cx="1952929" cy="1463040"/>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9ECBFF"/>
                </a:solidFill>
                <a:latin typeface="Segoe UI"/>
              </a:rPr>
              <a:t>GIẢI PHÁP</a:t>
            </a:r>
          </a:p>
          <a:p>
            <a:pPr algn="l">
              <a:lnSpc>
                <a:spcPct val="138000"/>
              </a:lnSpc>
              <a:spcBef>
                <a:spcPts val="1000"/>
              </a:spcBef>
              <a:spcAft>
                <a:spcPts val="0"/>
              </a:spcAft>
            </a:pPr>
            <a:r>
              <a:rPr sz="1250" b="0">
                <a:solidFill>
                  <a:srgbClr val="FFFFFF"/>
                </a:solidFill>
                <a:latin typeface="Segoe UI"/>
              </a:rPr>
              <a:t>Lớp tương tác hai chiều cạnh PDF: pulse, poll, hỏi riêng, clarification card.</a:t>
            </a:r>
          </a:p>
        </p:txBody>
      </p:sp>
      <p:sp>
        <p:nvSpPr>
          <p:cNvPr id="17" name="Rounded Rectangle 16"/>
          <p:cNvSpPr/>
          <p:nvPr/>
        </p:nvSpPr>
        <p:spPr>
          <a:xfrm>
            <a:off x="8940317" y="2089404"/>
            <a:ext cx="2501569" cy="196596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940317" y="2011680"/>
            <a:ext cx="2501569" cy="1965960"/>
          </a:xfrm>
          <a:prstGeom prst="roundRect">
            <a:avLst>
              <a:gd name="adj" fmla="val 11000"/>
            </a:avLst>
          </a:prstGeom>
          <a:solidFill>
            <a:srgbClr val="FFFFFF"/>
          </a:soli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14637" y="2304288"/>
            <a:ext cx="1952929" cy="1463040"/>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134D8B"/>
                </a:solidFill>
                <a:latin typeface="Segoe UI"/>
              </a:rPr>
              <a:t>VÌ SAO KHẢ THI</a:t>
            </a:r>
          </a:p>
          <a:p>
            <a:pPr algn="l">
              <a:lnSpc>
                <a:spcPct val="138000"/>
              </a:lnSpc>
              <a:spcBef>
                <a:spcPts val="1000"/>
              </a:spcBef>
              <a:spcAft>
                <a:spcPts val="0"/>
              </a:spcAft>
            </a:pPr>
            <a:r>
              <a:rPr sz="1250" b="0">
                <a:solidFill>
                  <a:srgbClr val="30435E"/>
                </a:solidFill>
                <a:latin typeface="Segoe UI"/>
              </a:rPr>
              <a:t>Không thay LMS, không đổi thói quen dạy; AI chỉ hỗ trợ phía sau.</a:t>
            </a:r>
          </a:p>
        </p:txBody>
      </p:sp>
      <p:sp>
        <p:nvSpPr>
          <p:cNvPr id="20" name="Rounded Rectangle 19"/>
          <p:cNvSpPr/>
          <p:nvPr/>
        </p:nvSpPr>
        <p:spPr>
          <a:xfrm>
            <a:off x="749808" y="4393692"/>
            <a:ext cx="10692079" cy="1554480"/>
          </a:xfrm>
          <a:prstGeom prst="roundRect">
            <a:avLst>
              <a:gd name="adj" fmla="val 11000"/>
            </a:avLst>
          </a:prstGeom>
          <a:solidFill>
            <a:srgbClr val="D3E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49808" y="4315968"/>
            <a:ext cx="10692079" cy="1554480"/>
          </a:xfrm>
          <a:prstGeom prst="roundRect">
            <a:avLst>
              <a:gd name="adj" fmla="val 11000"/>
            </a:avLst>
          </a:prstGeom>
          <a:gradFill rotWithShape="1">
            <a:gsLst>
              <a:gs pos="0">
                <a:srgbClr val="FFFFFF"/>
              </a:gs>
              <a:gs pos="100000">
                <a:srgbClr val="E7F1FF"/>
              </a:gs>
            </a:gsLst>
            <a:lin scaled="0" ang="18900000"/>
          </a:gradFill>
          <a:ln w="12700">
            <a:solidFill>
              <a:srgbClr val="DDE8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207007" y="4553712"/>
            <a:ext cx="9777679" cy="256032"/>
          </a:xfrm>
          <a:prstGeom prst="rect">
            <a:avLst/>
          </a:prstGeom>
          <a:noFill/>
        </p:spPr>
        <p:txBody>
          <a:bodyPr wrap="square" lIns="0" rIns="0" tIns="0" bIns="0" anchor="t">
            <a:spAutoFit/>
          </a:bodyPr>
          <a:lstStyle/>
          <a:p>
            <a:pPr algn="l">
              <a:lnSpc>
                <a:spcPct val="120000"/>
              </a:lnSpc>
              <a:spcBef>
                <a:spcPts val="0"/>
              </a:spcBef>
              <a:spcAft>
                <a:spcPts val="0"/>
              </a:spcAft>
            </a:pPr>
            <a:r>
              <a:rPr sz="1050" b="1" spc="80">
                <a:solidFill>
                  <a:srgbClr val="506680"/>
                </a:solidFill>
                <a:latin typeface="Segoe UI"/>
              </a:rPr>
              <a:t>VÒNG LẶP LÕI</a:t>
            </a:r>
          </a:p>
        </p:txBody>
      </p:sp>
      <p:sp>
        <p:nvSpPr>
          <p:cNvPr id="23" name="TextBox 22"/>
          <p:cNvSpPr txBox="1"/>
          <p:nvPr/>
        </p:nvSpPr>
        <p:spPr>
          <a:xfrm>
            <a:off x="1207007" y="4974336"/>
            <a:ext cx="2060371" cy="640080"/>
          </a:xfrm>
          <a:prstGeom prst="rect">
            <a:avLst/>
          </a:prstGeom>
          <a:noFill/>
        </p:spPr>
        <p:txBody>
          <a:bodyPr wrap="square" lIns="0" rIns="0" tIns="0" bIns="0" anchor="t">
            <a:spAutoFit/>
          </a:bodyPr>
          <a:lstStyle/>
          <a:p>
            <a:pPr algn="l">
              <a:lnSpc>
                <a:spcPct val="125000"/>
              </a:lnSpc>
              <a:spcBef>
                <a:spcPts val="0"/>
              </a:spcBef>
              <a:spcAft>
                <a:spcPts val="0"/>
              </a:spcAft>
            </a:pPr>
            <a:r>
              <a:rPr sz="1350" b="1">
                <a:solidFill>
                  <a:srgbClr val="0B2F55"/>
                </a:solidFill>
                <a:latin typeface="Segoe UI"/>
              </a:rPr>
              <a:t>Sinh viên thể hiện khó khăn</a:t>
            </a:r>
          </a:p>
        </p:txBody>
      </p:sp>
      <p:sp>
        <p:nvSpPr>
          <p:cNvPr id="24" name="Right Arrow 23"/>
          <p:cNvSpPr/>
          <p:nvPr/>
        </p:nvSpPr>
        <p:spPr>
          <a:xfrm>
            <a:off x="3230803" y="5084064"/>
            <a:ext cx="256032" cy="164592"/>
          </a:xfrm>
          <a:prstGeom prst="rightArrow">
            <a:avLst>
              <a:gd name="adj1" fmla="val 42000"/>
              <a:gd name="adj2" fmla="val 55000"/>
            </a:avLst>
          </a:pr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1427" y="4974336"/>
            <a:ext cx="2060371" cy="640080"/>
          </a:xfrm>
          <a:prstGeom prst="rect">
            <a:avLst/>
          </a:prstGeom>
          <a:noFill/>
        </p:spPr>
        <p:txBody>
          <a:bodyPr wrap="square" lIns="0" rIns="0" tIns="0" bIns="0" anchor="t">
            <a:spAutoFit/>
          </a:bodyPr>
          <a:lstStyle/>
          <a:p>
            <a:pPr algn="l">
              <a:lnSpc>
                <a:spcPct val="125000"/>
              </a:lnSpc>
              <a:spcBef>
                <a:spcPts val="0"/>
              </a:spcBef>
              <a:spcAft>
                <a:spcPts val="0"/>
              </a:spcAft>
            </a:pPr>
            <a:r>
              <a:rPr sz="1350" b="1">
                <a:solidFill>
                  <a:srgbClr val="0B2F55"/>
                </a:solidFill>
                <a:latin typeface="Segoe UI"/>
              </a:rPr>
              <a:t>Giảng viên nhìn thấy</a:t>
            </a:r>
          </a:p>
        </p:txBody>
      </p:sp>
      <p:sp>
        <p:nvSpPr>
          <p:cNvPr id="26" name="Right Arrow 25"/>
          <p:cNvSpPr/>
          <p:nvPr/>
        </p:nvSpPr>
        <p:spPr>
          <a:xfrm>
            <a:off x="5675223" y="5084064"/>
            <a:ext cx="256032" cy="164592"/>
          </a:xfrm>
          <a:prstGeom prst="rightArrow">
            <a:avLst>
              <a:gd name="adj1" fmla="val 42000"/>
              <a:gd name="adj2" fmla="val 55000"/>
            </a:avLst>
          </a:pr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5847" y="4974336"/>
            <a:ext cx="2060371" cy="640080"/>
          </a:xfrm>
          <a:prstGeom prst="rect">
            <a:avLst/>
          </a:prstGeom>
          <a:noFill/>
        </p:spPr>
        <p:txBody>
          <a:bodyPr wrap="square" lIns="0" rIns="0" tIns="0" bIns="0" anchor="t">
            <a:spAutoFit/>
          </a:bodyPr>
          <a:lstStyle/>
          <a:p>
            <a:pPr algn="l">
              <a:lnSpc>
                <a:spcPct val="125000"/>
              </a:lnSpc>
              <a:spcBef>
                <a:spcPts val="0"/>
              </a:spcBef>
              <a:spcAft>
                <a:spcPts val="0"/>
              </a:spcAft>
            </a:pPr>
            <a:r>
              <a:rPr sz="1350" b="1">
                <a:solidFill>
                  <a:srgbClr val="0B2F55"/>
                </a:solidFill>
                <a:latin typeface="Segoe UI"/>
              </a:rPr>
              <a:t>Tương tác xảy ra</a:t>
            </a:r>
          </a:p>
        </p:txBody>
      </p:sp>
      <p:sp>
        <p:nvSpPr>
          <p:cNvPr id="28" name="Right Arrow 27"/>
          <p:cNvSpPr/>
          <p:nvPr/>
        </p:nvSpPr>
        <p:spPr>
          <a:xfrm>
            <a:off x="8119643" y="5084064"/>
            <a:ext cx="256032" cy="164592"/>
          </a:xfrm>
          <a:prstGeom prst="rightArrow">
            <a:avLst>
              <a:gd name="adj1" fmla="val 42000"/>
              <a:gd name="adj2" fmla="val 55000"/>
            </a:avLst>
          </a:pr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0267" y="4974336"/>
            <a:ext cx="2060371" cy="640080"/>
          </a:xfrm>
          <a:prstGeom prst="rect">
            <a:avLst/>
          </a:prstGeom>
          <a:noFill/>
        </p:spPr>
        <p:txBody>
          <a:bodyPr wrap="square" lIns="0" rIns="0" tIns="0" bIns="0" anchor="t">
            <a:spAutoFit/>
          </a:bodyPr>
          <a:lstStyle/>
          <a:p>
            <a:pPr algn="l">
              <a:lnSpc>
                <a:spcPct val="125000"/>
              </a:lnSpc>
              <a:spcBef>
                <a:spcPts val="0"/>
              </a:spcBef>
              <a:spcAft>
                <a:spcPts val="0"/>
              </a:spcAft>
            </a:pPr>
            <a:r>
              <a:rPr sz="1350" b="1">
                <a:solidFill>
                  <a:srgbClr val="0B2F55"/>
                </a:solidFill>
                <a:latin typeface="Segoe UI"/>
              </a:rPr>
              <a:t>Sinh viên xác nhận đã hiểu</a:t>
            </a:r>
          </a:p>
        </p:txBody>
      </p:sp>
      <p:sp>
        <p:nvSpPr>
          <p:cNvPr id="30" name="Freeform 29"/>
          <p:cNvSpPr/>
          <p:nvPr/>
        </p:nvSpPr>
        <p:spPr>
          <a:xfrm>
            <a:off x="755522" y="6319642"/>
            <a:ext cx="68568" cy="122851"/>
          </a:xfrm>
          <a:custGeom>
            <a:avLst/>
            <a:gdLst/>
            <a:ahLst/>
            <a:cxnLst/>
            <a:rect l="l" t="t" r="r" b="b"/>
            <a:pathLst>
              <a:path w="24" h="43">
                <a:moveTo>
                  <a:pt x="6" y="0"/>
                </a:moveTo>
                <a:lnTo>
                  <a:pt x="24" y="16"/>
                </a:lnTo>
                <a:lnTo>
                  <a:pt x="16" y="43"/>
                </a:lnTo>
                <a:lnTo>
                  <a:pt x="0" y="18"/>
                </a:lnTo>
                <a:close/>
              </a:path>
            </a:pathLst>
          </a:custGeom>
          <a:solidFill>
            <a:srgbClr val="C7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04091" y="6305357"/>
            <a:ext cx="108566" cy="154278"/>
          </a:xfrm>
          <a:custGeom>
            <a:avLst/>
            <a:gdLst/>
            <a:ahLst/>
            <a:cxnLst/>
            <a:rect l="l" t="t" r="r" b="b"/>
            <a:pathLst>
              <a:path w="38" h="54">
                <a:moveTo>
                  <a:pt x="7" y="21"/>
                </a:moveTo>
                <a:lnTo>
                  <a:pt x="38" y="0"/>
                </a:lnTo>
                <a:lnTo>
                  <a:pt x="38" y="28"/>
                </a:lnTo>
                <a:lnTo>
                  <a:pt x="0" y="54"/>
                </a:lnTo>
                <a:close/>
              </a:path>
            </a:pathLst>
          </a:custGeom>
          <a:solidFill>
            <a:srgbClr val="13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804091" y="6305357"/>
            <a:ext cx="108566" cy="154278"/>
          </a:xfrm>
          <a:custGeom>
            <a:avLst/>
            <a:gdLst/>
            <a:ahLst/>
            <a:cxnLst/>
            <a:rect l="l" t="t" r="r" b="b"/>
            <a:pathLst>
              <a:path w="38" h="54">
                <a:moveTo>
                  <a:pt x="7" y="21"/>
                </a:moveTo>
                <a:lnTo>
                  <a:pt x="38" y="0"/>
                </a:lnTo>
                <a:lnTo>
                  <a:pt x="24" y="26"/>
                </a:lnTo>
                <a:lnTo>
                  <a:pt x="0" y="54"/>
                </a:lnTo>
                <a:close/>
              </a:path>
            </a:pathLst>
          </a:custGeom>
          <a:solidFill>
            <a:srgbClr val="0B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4127" y="6281928"/>
            <a:ext cx="27432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a:solidFill>
                  <a:srgbClr val="134D8B"/>
                </a:solidFill>
                <a:latin typeface="Segoe UI"/>
              </a:rPr>
              <a:t>VLearn</a:t>
            </a:r>
          </a:p>
        </p:txBody>
      </p:sp>
      <p:sp>
        <p:nvSpPr>
          <p:cNvPr id="34" name="TextBox 33"/>
          <p:cNvSpPr txBox="1"/>
          <p:nvPr/>
        </p:nvSpPr>
        <p:spPr>
          <a:xfrm>
            <a:off x="7327087" y="6281928"/>
            <a:ext cx="4114800" cy="256032"/>
          </a:xfrm>
          <a:prstGeom prst="rect">
            <a:avLst/>
          </a:prstGeom>
          <a:noFill/>
        </p:spPr>
        <p:txBody>
          <a:bodyPr wrap="square" lIns="0" rIns="0" tIns="0" bIns="0" anchor="t">
            <a:spAutoFit/>
          </a:bodyPr>
          <a:lstStyle/>
          <a:p>
            <a:pPr algn="r">
              <a:lnSpc>
                <a:spcPct val="120000"/>
              </a:lnSpc>
              <a:spcBef>
                <a:spcPts val="0"/>
              </a:spcBef>
              <a:spcAft>
                <a:spcPts val="0"/>
              </a:spcAft>
            </a:pPr>
            <a:r>
              <a:rPr sz="1100" b="1">
                <a:solidFill>
                  <a:srgbClr val="7F96B4"/>
                </a:solidFill>
                <a:latin typeface="Segoe UI"/>
              </a:rP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